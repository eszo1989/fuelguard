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Flujo de caja acumulado a 24 meses (USD)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Flujo acumulado con FuelGuard</c:v>
                </c:pt>
              </c:strCache>
            </c:strRef>
          </c:tx>
          <c:spPr>
            <a:solidFill>
              <a:srgbClr val="1FB51F"/>
            </a:solidFill>
            <a:ln w="38100" cap="flat">
              <a:solidFill>
                <a:srgbClr val="1FB5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B51F"/>
              </a:solidFill>
              <a:ln w="9525" cap="flat">
                <a:solidFill>
                  <a:srgbClr val="1FB5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Inicio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-13840</c:v>
                </c:pt>
                <c:pt idx="1">
                  <c:v>-9940</c:v>
                </c:pt>
                <c:pt idx="2">
                  <c:v>-6040</c:v>
                </c:pt>
                <c:pt idx="3">
                  <c:v>-2140</c:v>
                </c:pt>
                <c:pt idx="4">
                  <c:v>1760</c:v>
                </c:pt>
                <c:pt idx="5">
                  <c:v>5660</c:v>
                </c:pt>
                <c:pt idx="6">
                  <c:v>9560</c:v>
                </c:pt>
                <c:pt idx="7">
                  <c:v>13460</c:v>
                </c:pt>
                <c:pt idx="8">
                  <c:v>17360</c:v>
                </c:pt>
                <c:pt idx="9">
                  <c:v>21260</c:v>
                </c:pt>
                <c:pt idx="10">
                  <c:v>25160</c:v>
                </c:pt>
                <c:pt idx="11">
                  <c:v>29060</c:v>
                </c:pt>
                <c:pt idx="12">
                  <c:v>32960</c:v>
                </c:pt>
                <c:pt idx="13">
                  <c:v>36860</c:v>
                </c:pt>
                <c:pt idx="14">
                  <c:v>40760</c:v>
                </c:pt>
                <c:pt idx="15">
                  <c:v>44660</c:v>
                </c:pt>
                <c:pt idx="16">
                  <c:v>48560</c:v>
                </c:pt>
                <c:pt idx="17">
                  <c:v>52460</c:v>
                </c:pt>
                <c:pt idx="18">
                  <c:v>56360</c:v>
                </c:pt>
                <c:pt idx="19">
                  <c:v>60260</c:v>
                </c:pt>
                <c:pt idx="20">
                  <c:v>64160</c:v>
                </c:pt>
                <c:pt idx="21">
                  <c:v>68060</c:v>
                </c:pt>
                <c:pt idx="22">
                  <c:v>71960</c:v>
                </c:pt>
                <c:pt idx="23">
                  <c:v>75860</c:v>
                </c:pt>
                <c:pt idx="24">
                  <c:v>79760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Pérdida acumulada sin control</c:v>
                </c:pt>
              </c:strCache>
            </c:strRef>
          </c:tx>
          <c:spPr>
            <a:solidFill>
              <a:srgbClr val="D03B3B"/>
            </a:solidFill>
            <a:ln w="38100" cap="flat">
              <a:solidFill>
                <a:srgbClr val="D0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3B3B"/>
              </a:solidFill>
              <a:ln w="9525" cap="flat">
                <a:solidFill>
                  <a:srgbClr val="D0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Inicio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-5760</c:v>
                </c:pt>
                <c:pt idx="2">
                  <c:v>-11520</c:v>
                </c:pt>
                <c:pt idx="3">
                  <c:v>-17280</c:v>
                </c:pt>
                <c:pt idx="4">
                  <c:v>-23040</c:v>
                </c:pt>
                <c:pt idx="5">
                  <c:v>-28800</c:v>
                </c:pt>
                <c:pt idx="6">
                  <c:v>-34560</c:v>
                </c:pt>
                <c:pt idx="7">
                  <c:v>-40320</c:v>
                </c:pt>
                <c:pt idx="8">
                  <c:v>-46080</c:v>
                </c:pt>
                <c:pt idx="9">
                  <c:v>-51840</c:v>
                </c:pt>
                <c:pt idx="10">
                  <c:v>-57600</c:v>
                </c:pt>
                <c:pt idx="11">
                  <c:v>-63360</c:v>
                </c:pt>
                <c:pt idx="12">
                  <c:v>-69120</c:v>
                </c:pt>
                <c:pt idx="13">
                  <c:v>-74880</c:v>
                </c:pt>
                <c:pt idx="14">
                  <c:v>-80640</c:v>
                </c:pt>
                <c:pt idx="15">
                  <c:v>-86400</c:v>
                </c:pt>
                <c:pt idx="16">
                  <c:v>-92160</c:v>
                </c:pt>
                <c:pt idx="17">
                  <c:v>-97920</c:v>
                </c:pt>
                <c:pt idx="18">
                  <c:v>-103680</c:v>
                </c:pt>
                <c:pt idx="19">
                  <c:v>-109440</c:v>
                </c:pt>
                <c:pt idx="20">
                  <c:v>-115200</c:v>
                </c:pt>
                <c:pt idx="21">
                  <c:v>-120960</c:v>
                </c:pt>
                <c:pt idx="22">
                  <c:v>-126720</c:v>
                </c:pt>
                <c:pt idx="23">
                  <c:v>-132480</c:v>
                </c:pt>
                <c:pt idx="24">
                  <c:v>-138240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F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F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calculadora de retorno del dashboard usando los litros reales del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COMERCIAL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automatizado de combustible para cisternas y equipos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por nivel de funcionalidad y tipo de solución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EC835A"/>
          </a:solidFill>
          <a:ln w="12700">
            <a:solidFill>
              <a:srgbClr val="EC8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5257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 · control automatizado de combustible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combustible es el gasto que menos se controla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despacho se anota en un vale de papel, nadie sabe cuánto se perdió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combustible comprado se pierde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 a 15 %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 directo, bidones, vales inflados, sifoneo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1572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en una flota de 60 000 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3 600 – 10 800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USD 1,20 por litro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572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vale de papel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evidencia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cómo probar quién, cuánto ni cuándo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1546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🕳️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1546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pierde hoy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11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 a vehículos ajenos o a bidones "de paso"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inflados en el vale: el equipo recibió menos de lo anotado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directa de la cisterna estacionada de noche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Manguera paralela que evita el contador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Sifoneo del tanque del equipo en el turno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proveedor entrega menos que la guía de remisión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01752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31546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1546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cambia con FuelGuard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611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tag válido la válvula no abre: nadie carga fuera de la lista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litro lo mide el caudalímetro, no una persona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sensor de nivel avisa si la cisterna baja sin despacho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del operador en la tablet y ticket con hash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en el celular del supervisor en segundos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merma automático cada mañana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proceso es automático: el chofer solo acerca la pistola al tanque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iagrama-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reglas que vigilan cada litro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indica el dato exacto que la disparó y queda en la auditoría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🔖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002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no autorizado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válvula no abre. Queda registrado el intento con hora y GPS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1600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📍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la geocerca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 fuera de la obra bloqueados (venta en ruta)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600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16002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horario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Cargas nocturnas o en días no permitidos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0632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🛑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200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Sobrellenado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576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automático al superar la capacidad del tanque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0632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3200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en cisterna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36576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baja sin despacho: robo directo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0632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3200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 del caudalímetro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36576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cisterna bajó más de lo que midió el contador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8006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⛽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8006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Sifoneo del equipo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2578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por hora muy superior al nominal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97680" y="46634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48006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🚚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983480" y="48006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 incompleta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480560" y="52578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proveedor entregó menos que la guía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66344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0" y="48006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📵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732520" y="48006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señal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52578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seguro del despacho y reenvío al recuperar cobertura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263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equipo inactivo, caudal anómalo (manipulación del sensor), despacho repetido y despacho manual de contingencia.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en tiempo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rol ve lo suyo: gerencia, supervisor, chofer y operador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ashboard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49103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686800" y="1371600"/>
            <a:ext cx="2926080" cy="4910328"/>
          </a:xfrm>
          <a:prstGeom prst="roundRect">
            <a:avLst>
              <a:gd name="adj" fmla="val 375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6968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pantalla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869680" y="1965960"/>
            <a:ext cx="256032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del día y del mes con costo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detectada y su costo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de cada cisterna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 llenándose en vivo, litro a litro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con botón de resolución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por equipo y por operador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con hash de integridad y firma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 chofer en la tablet del camión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Instalable, funciona sin cobertura y sincroniza sola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chofer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926080" cy="4681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6" name="Image 1" descr="C:\Users\EdisonZavalaOrellana\Proyectos\fuelguard\docs\presentaciones\build\img\chofer-confirm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2926080" cy="4681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7" name="Image 2" descr="C:\Users\EdisonZavalaOrellana\Proyectos\fuelguard\docs\presentaciones\build\img\chofer-ti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71600"/>
            <a:ext cx="2926080" cy="4681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9875520" y="1371600"/>
            <a:ext cx="1783080" cy="4681728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05840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10058400" y="1965960"/>
            <a:ext cx="1417320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 en vivo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Bloqueos con motivo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del operador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Horómetro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58 mm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 contingencia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sin señal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y comparativa de merma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con siete hojas, PDF ejecutivo y envío automático por correo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pic>
        <p:nvPicPr>
          <p:cNvPr id="5" name="Image 0" descr="C:\Users\EdisonZavalaOrellana\Proyectos\fuelguard\docs\presentaciones\build\img\dashboard-repo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49103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686800" y="1371600"/>
            <a:ext cx="2926080" cy="233172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6968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869680" y="1965960"/>
            <a:ext cx="2560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ayer, 7 días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y mes anteriores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libres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686800" y="3886200"/>
            <a:ext cx="2926080" cy="2395728"/>
          </a:xfrm>
          <a:prstGeom prst="roundRect">
            <a:avLst>
              <a:gd name="adj" fmla="val 4580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0" y="4023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869680" y="4480560"/>
            <a:ext cx="25603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a las 6:00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los lunes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 el día 1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vs. período anterior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funcionalidad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define qué hardware lleva la cisterna y cada equipo, y qué detecta el sistema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y mide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Caudalímetro, electroválvula, lector RFID, controlador 4G + GPS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RFID por equipo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sin tag, geocerca, horario, sobrellenado, caudal anómalo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en tiempo real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Excel y PDF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en horario hábil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1EA"/>
          </a:solidFill>
          <a:ln w="19050">
            <a:solidFill>
              <a:srgbClr val="EC83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 ·  recomendado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y controla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Básico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 nivel de la cisterna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del chofer con firma, ticket y recargas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robo directo, bypass, recarga incompleta y sifoneo por horómetro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automáticos por correo y comparativa de merma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· soporte por WhatsApp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 a extremo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Estándar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 nivel y rastreador CAN/GPS en cada equipo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Sifoneo en tiempo real y consumo L/h automático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multi‑obra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programada a ERP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prioritario y revisión mensual de merma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formas de contratarlo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nivel se puede entregar de cualquiera de estas formas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🔑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00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 en mano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574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Hardware, instalación, calibración, software en nuestra nube y soporte. Cero fricción para el cliente.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inicial por cisterna y equipo + suscripción mensual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600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software (SaaS)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0574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compra e instala el hardware con nuestra lista y guía; nosotros configuramos, capacitamos y operamos la nube.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marcha + suscripción mensual reducida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propio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34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perpetua instalada en la infraestructura del cliente. Para mineras con política de datos internos.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+ 18 % anual de mantenimiento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84048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90 días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434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cisterna nivel Estándar llave en mano con informe de merma al cierre. Para decidir con cifras reales.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reducida, sin cuota mensual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· llave en mano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sin IVA · precios de lista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737360"/>
                <a:gridCol w="173736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Básico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Implementación por cisterna (hardware, instalación, calibración, configuración, capacitación)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por equipo (tag, instalación, registro)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 (tag + sensor de nivel + rastreador CAN/GPS)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Suscripción mensual por cisterna (software, nube, SIM, soporte, actualizaciones)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Suscripción mensual por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617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volumen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074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 de 3 a 5 cisternas · 10 % de 6 a 10 · 15 % desde 11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anual pagado por adelantado: un mes gratis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448056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6350">
            <a:solidFill>
              <a:srgbClr val="E9F5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incluye la suscripción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5074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y respaldos diarios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del controlador y monitoreo de conexión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de software y firmware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y reposición de tags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· software, servidor propio y piloto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sin IVA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software (SaaS)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Básico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Puesta en marcha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Suscripción mensual por cisterna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Suscripción mensual por equipo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propio (licencia perpetua)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Hasta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Hasta 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 perpetua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Instalación del servidor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657600"/>
            <a:ext cx="5486400" cy="2560320"/>
          </a:xfrm>
          <a:prstGeom prst="roundRect">
            <a:avLst>
              <a:gd name="adj" fmla="val 4286"/>
            </a:avLst>
          </a:prstGeom>
          <a:solidFill>
            <a:srgbClr val="FFF1EA"/>
          </a:solidFill>
          <a:ln w="6350">
            <a:solidFill>
              <a:srgbClr val="FFF1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3794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3794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90 días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425196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cisterna nivel Estándar llave en mano, hasta 15 equipos: USD 4 500 (en lugar de 7 550)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cuota mensual durante el piloto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merma con cifras reales al cierre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convertir a contrato anual: 10 % de descuento en las cisternas siguientes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continúa, el hardware queda instalado y pagado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309360" y="3657600"/>
            <a:ext cx="5303520" cy="2560320"/>
          </a:xfrm>
          <a:prstGeom prst="roundRect">
            <a:avLst>
              <a:gd name="adj" fmla="val 4286"/>
            </a:avLst>
          </a:prstGeom>
          <a:solidFill>
            <a:srgbClr val="F4F6F9"/>
          </a:solidFill>
          <a:ln w="6350">
            <a:solidFill>
              <a:srgbClr val="F4F6F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794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➕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995160" y="379476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adicionales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42519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rugged adicional con soporte: 450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ERP: 1 500 – 3 000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adicional en faena: 600 por día + viáticos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24/7 con respuesta en 1 h: 150 por cisterna al mes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merma histórica: 1 200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contratista con 2 cisternas y 12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Estándar llave en mano · consumo 60 000 L/mes a USD 1,20 · pérdida actual 8 % · recuperación 80 %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inicial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13 840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6 500 + 12 × 70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154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700 / mes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cisternas × 350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E9F5EC"/>
          </a:solidFill>
          <a:ln w="12700">
            <a:solidFill>
              <a:srgbClr val="E9F5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esperado del cliente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80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4 600 / mes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una pérdida de 5 760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54406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E9F5EC"/>
          </a:solidFill>
          <a:ln w="12700">
            <a:solidFill>
              <a:srgbClr val="E9F5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550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de la inversión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806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6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meses</a:t>
            </a:r>
            <a:endParaRPr lang="en-US" sz="26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3474720" y="1371600"/>
          <a:ext cx="81381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las alternativas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control por un precio comparable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332720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463040"/>
                <a:gridCol w="23774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de papel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Contador con llave / RFID (Piusi MC 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Telemetría de flota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FuelGuard Estándar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 al equipo automáticamente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Mide cada litro sin intervención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 robo directo de la cisterna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 bypass del contador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Firma del operador y ticket con hash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en tiempo real y alertas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Descarga 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 automáticos de merma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por cisterna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o superior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– 40 USD por vehículo/mes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 + 350/mes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90 días en una cisterna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en un día · informe de merma con cifras reales · decisión con datos, no con estimaciones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EC835A"/>
          </a:solidFill>
          <a:ln w="12700">
            <a:solidFill>
              <a:srgbClr val="EC8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5257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FuelGuard · control automatizado de combustible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Edison Zavala · [correo] · [teléfono]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FuelGuard · Planes comerciales</dc:title>
  <dc:subject>PptxGenJS Presentation</dc:subject>
  <dc:creator>FuelGuard</dc:creator>
  <cp:lastModifiedBy>FuelGuard</cp:lastModifiedBy>
  <cp:revision>1</cp:revision>
  <dcterms:created xsi:type="dcterms:W3CDTF">2026-09-25T15:53:56Z</dcterms:created>
  <dcterms:modified xsi:type="dcterms:W3CDTF">2026-09-25T15:53:56Z</dcterms:modified>
</cp:coreProperties>
</file>