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INSTALACIÓN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del kit FuelGuard en la cisterna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a paso mecánico, eléctrico y de puesta en marcha · un día de trabajo para dos personas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5120640"/>
            <a:ext cx="822960" cy="822960"/>
          </a:xfrm>
          <a:prstGeom prst="roundRect">
            <a:avLst>
              <a:gd name="adj" fmla="val 22222"/>
            </a:avLst>
          </a:prstGeom>
          <a:solidFill>
            <a:srgbClr val="EC835A"/>
          </a:solidFill>
          <a:ln w="12700">
            <a:solidFill>
              <a:srgbClr val="EC83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5257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 · control automatizado de combustible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etapas, un día de trabajo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hace falta programar: el firmware está hecho y solo se edita un archivo de configuración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280160" y="2514600"/>
            <a:ext cx="9692640" cy="0"/>
          </a:xfrm>
          <a:prstGeom prst="line">
            <a:avLst/>
          </a:prstGeom>
          <a:noFill/>
          <a:ln w="38100">
            <a:solidFill>
              <a:srgbClr val="DD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2148840"/>
            <a:ext cx="731520" cy="7315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17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y prueba en mesa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· 2–3 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20440" y="2148840"/>
            <a:ext cx="731520" cy="731520"/>
          </a:xfrm>
          <a:prstGeom prst="ellipse">
            <a:avLst/>
          </a:prstGeom>
          <a:solidFill>
            <a:srgbClr val="B5532C"/>
          </a:solidFill>
          <a:ln w="12700">
            <a:solidFill>
              <a:srgbClr val="B553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017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mecánico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Camión · 2–3 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06440" y="2148840"/>
            <a:ext cx="731520" cy="731520"/>
          </a:xfrm>
          <a:prstGeom prst="ellipse">
            <a:avLst/>
          </a:prstGeom>
          <a:solidFill>
            <a:srgbClr val="B5532C"/>
          </a:solidFill>
          <a:ln w="12700">
            <a:solidFill>
              <a:srgbClr val="B5532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06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017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eléctrico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Camión · 2–3 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Electricista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92440" y="2148840"/>
            <a:ext cx="731520" cy="731520"/>
          </a:xfrm>
          <a:prstGeom prst="ellipse">
            <a:avLst/>
          </a:prstGeom>
          <a:solidFill>
            <a:srgbClr val="0A6F0A"/>
          </a:solidFill>
          <a:ln w="12700">
            <a:solidFill>
              <a:srgbClr val="0A6F0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92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3017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en los equipos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Faena · 5 min por equipo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378440" y="2148840"/>
            <a:ext cx="731520" cy="7315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378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0" y="3017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Calibración y prueba final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Camión · 1–2 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+ chofer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5720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709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👷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234440" y="47091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hace qué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166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o gásfiter industrial: línea de combustible y sensor de nivel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Electricista o técnico automotriz: caja, cableado y antenas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de FuelGuard: firmware, tags, calibración y capacitación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45720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6350">
            <a:solidFill>
              <a:srgbClr val="E9F5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0" y="4709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903720" y="47091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ir al camión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5166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completo recibido y verificado (K‑factor, tensión de bobina, rango del sensor)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Cisterna creada en el dashboard con su clave de dispositivo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en mesa aprobada: tag → despacho → cierre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estándar por cisterna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compra con proveedores en docs/LISTA_DE_COMPRA_PILOTO.md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657600" cy="4846320"/>
          </a:xfrm>
          <a:prstGeom prst="roundRect">
            <a:avLst>
              <a:gd name="adj" fmla="val 3000"/>
            </a:avLst>
          </a:prstGeom>
          <a:solidFill>
            <a:srgbClr val="FFF1EA"/>
          </a:solidFill>
          <a:ln w="6350">
            <a:solidFill>
              <a:srgbClr val="FFF1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5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de combustible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65960"/>
            <a:ext cx="32918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Caudalímetro de pulsos 1½" (Piusi K600/4) con hoja de K‑factor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Electroválvula NC 1½", 12/24 V, sello Viton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Pistola automática (si la actual no lo es)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Niples, uniones, teflón y sellador para hidrocarburos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Abrazaderas y soportes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657600" cy="4846320"/>
          </a:xfrm>
          <a:prstGeom prst="roundRect">
            <a:avLst>
              <a:gd name="adj" fmla="val 3000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🔌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50876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Electrónica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1965960"/>
            <a:ext cx="32918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 ESP32 + 4G + GPS (LILYGO T‑SIM7600G‑H)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Lector RFID RDM6300 y bobina de antena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de nivel hidrostático 4–20 mA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relé 5 V, fuente DC‑DC 24→5 V 3 A, shunt 150 Ω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Antenas LTE y GPS, SIM M2M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IP67, prensaestopas, fusible 3 A, supresor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1371600"/>
            <a:ext cx="3474720" cy="2331720"/>
          </a:xfrm>
          <a:prstGeom prst="roundRect">
            <a:avLst>
              <a:gd name="adj" fmla="val 4706"/>
            </a:avLst>
          </a:prstGeom>
          <a:solidFill>
            <a:srgbClr val="E9F5EC"/>
          </a:solidFill>
          <a:ln w="6350">
            <a:solidFill>
              <a:srgbClr val="E9F5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823960" y="1508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equipo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1965960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RFID anti‑metal 125 kHz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Desengrasante y resina epóxica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38160" y="3886200"/>
            <a:ext cx="3474720" cy="2331720"/>
          </a:xfrm>
          <a:prstGeom prst="roundRect">
            <a:avLst>
              <a:gd name="adj" fmla="val 4706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🧰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823960" y="40233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480560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Llaves de tubo, cortatubos, terraja 1½"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Multímetro, crimpadora, etiquetadora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Recipiente patrón de 20 L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con PlatformIO y cable USB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Preparación: dar de alta la cisterna y los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hace en la oficina, antes de tocar el camión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pic>
        <p:nvPicPr>
          <p:cNvPr id="5" name="Image 0" descr="C:\Users\EdisonZavalaOrellana\Proyectos\fuelguard\docs\presentaciones\build\img\dashboard-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223760" cy="45079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8046720" y="1371600"/>
            <a:ext cx="3566160" cy="4507992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1965960"/>
            <a:ext cx="3200400" cy="377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Administración → Cisternas → Nueva cisterna. Anote la clave de dispositivo: se muestra una sola vez.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Equipos → Nuevo equipo: código, capacidad del tanque y consumo nominal en L/h.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Usuarios: chofer asignado a la cisterna y operadores de cada equipo.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Parámetros: geocerca, horario y precio del litro.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tag RFID de cada equipo se completa en la etapa D, cuando se lee con el lector.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Configurar y grabar el firmware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archivo de configuración y un comando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3840480"/>
          </a:xfrm>
          <a:prstGeom prst="roundRect">
            <a:avLst>
              <a:gd name="adj" fmla="val 2381"/>
            </a:avLst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0876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F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firmware/include/config.h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DEVICE_KEY   "dev-cist-01-8f3a…"  // dashboard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SERVER_HOST  "combustible.miempresa.com"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SERVER_PORT  443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SERVER_TLS  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GSM_APN      "m2m.entel.cl"       // según SIM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K_FACTOR_PULSES_PER_L  100.0f  // hoja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TANK_CAPACITY_L        10000.0f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LEVEL_TABLE {{0,0},{50,5000},{100,10000}}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8F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grabar y ver el monitor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BE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pio run -e esp32-sim7600 -t upload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BE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pio device monitor -b 115200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675120" y="1371600"/>
            <a:ext cx="4937760" cy="3840480"/>
          </a:xfrm>
          <a:prstGeom prst="roundRect">
            <a:avLst>
              <a:gd name="adj" fmla="val 2857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0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🖥️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50876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comprobar en el monitor serie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9659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"heartbeat ok, señal N" → el controlador llegó al servidor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dashboard la cisterna pasa a "en línea" con posición GPS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LED: parpadeo lento = en línea, rápido = sin señal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conecta: revisar DEVICE_KEY, APN y antena LTE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53949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5EC"/>
          </a:solidFill>
          <a:ln w="6350">
            <a:solidFill>
              <a:srgbClr val="E9F5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532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PlatformIO se instala con  pip install platformio . Compilación verificada para las dos variantes: esp32-wifi (banco de pruebas) y esp32-sim7600 (producción).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Prueba en mesa: el sistema completo sin el camión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esto funciona, el 80 % del riesgo de la instalación queda resuelto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pic>
        <p:nvPicPr>
          <p:cNvPr id="5" name="Image 0" descr="C:\Users\EdisonZavalaOrellana\Proyectos\fuelguard\docs\presentaciones\build\img\diagrama-me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2971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03920" y="1371600"/>
            <a:ext cx="3108960" cy="2971800"/>
          </a:xfrm>
          <a:prstGeom prst="roundRect">
            <a:avLst>
              <a:gd name="adj" fmla="val 3077"/>
            </a:avLst>
          </a:prstGeom>
          <a:solidFill>
            <a:srgbClr val="F8F9FB"/>
          </a:solidFill>
          <a:ln w="12700">
            <a:solidFill>
              <a:srgbClr val="8A8F96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8503920" y="23545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🎥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9032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1 · Prueba en mesa (2 min)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641080" y="3223260"/>
            <a:ext cx="283464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→ autorizado en la tablet → pulsador → litros suben → retirar tag → despacho cerrado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" y="4526280"/>
            <a:ext cx="5486400" cy="1691640"/>
          </a:xfrm>
          <a:prstGeom prst="roundRect">
            <a:avLst>
              <a:gd name="adj" fmla="val 6486"/>
            </a:avLst>
          </a:prstGeom>
          <a:solidFill>
            <a:srgbClr val="FFF1EA"/>
          </a:solidFill>
          <a:ln w="6350">
            <a:solidFill>
              <a:srgbClr val="FFF1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6634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46634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5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los tags anti‑metal aquí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1206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uno sobre una plancha de acero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estable a 2–3 cm; pérdida en menos de 1 s al alejar la antena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falla: tag más grande o antena reubicada, antes de comprar el lote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452628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E9F5EC"/>
          </a:solidFill>
          <a:ln w="6350">
            <a:solidFill>
              <a:srgbClr val="E9F5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46634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46634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51206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Despacho en el historial del dashboard con hash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"tag no autorizado" al acercar un tag desconocido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con firma desde la tablet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Montaje mecánico: dónde va cada pieza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Intercalar caudalímetro y electroválvula en serie después de la bomba y el filtro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pic>
        <p:nvPicPr>
          <p:cNvPr id="5" name="Image 0" descr="C:\Users\EdisonZavalaOrellana\Proyectos\fuelguard\docs\presentaciones\build\img\diagrama-lin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Montaje mecánico: los tres puntos delicados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fotográfico del piloto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8F9FB"/>
          </a:solidFill>
          <a:ln w="12700">
            <a:solidFill>
              <a:srgbClr val="8A8F9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1 · Corte e inserción en la línea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297680"/>
            <a:ext cx="3200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Tramo recto y accesible después del filtro. Respetar la flecha de flujo. Sellar con teflón o sellador para hidrocarburos. Fijar al chasis: nunca colgado de la manguera.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3716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8F9FB"/>
          </a:solidFill>
          <a:ln w="12700">
            <a:solidFill>
              <a:srgbClr val="8A8F96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29768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2 · Sonda de nivel por la boca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80560" y="4297680"/>
            <a:ext cx="3200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Introducir hasta apoyar en el fondo, fijar el cable con prensaestopas en el tapón. Sin perforar ni soldar. Anotar el compartimento si hay rompeolas.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8F9FB"/>
          </a:solidFill>
          <a:ln w="12700">
            <a:solidFill>
              <a:srgbClr val="8A8F9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804672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3 · Antena RFID en la boquilla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0" y="4297680"/>
            <a:ext cx="3200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Bobina a 2–3 cm de la punta con abrazadera plástica, cubierta con resina epóxica. Cable en espiral protector junto a la manguera.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263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fugas obligatoria antes de la etapa C: bomba encendida con la pistola cerrada, revisar todas las uniones.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Montaje eléctrico: conexiones al controlador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cables, todos etiquetados en ambos extremos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pic>
        <p:nvPicPr>
          <p:cNvPr id="5" name="Image 0" descr="C:\Users\EdisonZavalaOrellana\Proyectos\fuelguard\docs\presentaciones\build\img\diagrama-cable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Caja, alimentación y antenas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fotográfico del piloto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8F9FB"/>
          </a:solidFill>
          <a:ln w="12700">
            <a:solidFill>
              <a:srgbClr val="8A8F9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4 · Caja IP67 montada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prensaestopas hacia abajo, lejos del escape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8F9FB"/>
          </a:solidFill>
          <a:ln w="12700">
            <a:solidFill>
              <a:srgbClr val="8A8F96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29768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5 · Interior cableado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placa, relé, fuente, shunt en bornera, etiquetas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8F9FB"/>
          </a:solidFill>
          <a:ln w="12700">
            <a:solidFill>
              <a:srgbClr val="8A8F9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804672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🎥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2 · Encendido y primera conexión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18388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en línea y cisterna en el dashboard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394960" cy="2057400"/>
          </a:xfrm>
          <a:prstGeom prst="roundRect">
            <a:avLst>
              <a:gd name="adj" fmla="val 5333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2976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🔋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2976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Alimentación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7548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12/24 V del vehículo con fusible de 3 A y supresor de transitorios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Convertidor DC‑DC a 5 V; negativo común al chasis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bobina de la válvula se alimenta directo de 12/24 V a través del relé, con diodo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160520"/>
            <a:ext cx="5394960" cy="2057400"/>
          </a:xfrm>
          <a:prstGeom prst="roundRect">
            <a:avLst>
              <a:gd name="adj" fmla="val 5333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42976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42976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Antenas y señal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7548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 y GPS en el techo de la cabina, con vista al cielo y fuera del metal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Cables de señal apantallados, malla a GND solo en la caja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M2M insertada y APN cargado en config.h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Tags en los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minutos por máquina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8F9FB"/>
          </a:solidFill>
          <a:ln w="12700">
            <a:solidFill>
              <a:srgbClr val="8A8F9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6 · Tag en el cuello del tanque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apoya la boquilla al cargar</a:t>
            </a:r>
            <a:endParaRPr lang="en-US" sz="1000" dirty="0"/>
          </a:p>
        </p:txBody>
      </p:sp>
      <p:pic>
        <p:nvPicPr>
          <p:cNvPr id="9" name="Image 0" descr="C:\Users\EdisonZavalaOrellana\Proyectos\fuelguard\docs\presentaciones\build\img\dashboard-equip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37160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10" name="Shape 7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297680"/>
            <a:ext cx="3200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Desengrasar y pegar el tag anti‑metal (o fijar con abrazadera). Resina si recibe golpes.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Leerlo con el lector: aparece en el monitor serie o como "tag no autorizado" en el dashboard.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Equipos → Editar → Tag RFID. Carga corta de prueba.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Calibración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 que definen la precisión de todo el sistema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FFF1EA"/>
          </a:solidFill>
          <a:ln w="6350">
            <a:solidFill>
              <a:srgbClr val="FFF1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⏱️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55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Caudalímetro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6596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Despachar tres veces a un recipiente patrón de 20 L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sistema promedia 19,4 L:  K nuevo = K actual × 19,4 / 20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Regrabar config.h y anotar el K‑factor en la cisterna del dashboard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error menor al 0,5 %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37160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087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de nivel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96596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tanque a un nivel conocido (varilla o guía de carga) anotar los litros reportados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en dos o tres niveles y cargar los puntos en LEVEL_TABLE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Tanque cilíndrico horizontal: tabla no lineal, al menos 7 puntos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precision_nivel_pct en Parámetros a la precisión real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8F9FB"/>
          </a:solidFill>
          <a:ln w="12700">
            <a:solidFill>
              <a:srgbClr val="8A8F9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48640" y="47548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🎥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303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3 · Calibración con recipiente patrón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4297680"/>
            <a:ext cx="7315200" cy="1920240"/>
          </a:xfrm>
          <a:prstGeom prst="roundRect">
            <a:avLst>
              <a:gd name="adj" fmla="val 5714"/>
            </a:avLst>
          </a:prstGeom>
          <a:solidFill>
            <a:srgbClr val="E9F5EC"/>
          </a:solidFill>
          <a:ln w="6350">
            <a:solidFill>
              <a:srgbClr val="E9F5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80560" y="44348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983480" y="4434840"/>
            <a:ext cx="644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Geocerca, horario y precio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89204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→ Parámetros: coordenadas del proyecto y radio (3 km por defecto), horario permitido, precio por litro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precisión del sensor bien configurada, las conciliaciones no generan falsas alarmas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Prueba final con el chofer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despacho completo, tal como se hará cada día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pic>
        <p:nvPicPr>
          <p:cNvPr id="5" name="Image 0" descr="C:\Users\EdisonZavalaOrellana\Proyectos\fuelguard\docs\presentaciones\build\img\chofer-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926080" cy="468172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6" name="Image 1" descr="C:\Users\EdisonZavalaOrellana\Proyectos\fuelguard\docs\presentaciones\build\img\chofer-tick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2926080" cy="468172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6766560" y="1371600"/>
            <a:ext cx="4846320" cy="4681728"/>
          </a:xfrm>
          <a:prstGeom prst="roundRect">
            <a:avLst>
              <a:gd name="adj" fmla="val 2344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949440" y="15087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de aceptación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1965960"/>
            <a:ext cx="4480560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Leer tag → la tablet muestra "autorizado" y los litros suben en vivo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Retirar la pistola → cierre automático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Confirmar con horómetro y firma → imprimir ticket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Verificar el registro y el hash en el dashboard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Tag desconocido → válvula bloqueada y alerta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Quitar antena LTE → despacho con lista local → reconectar → se sincroniza con su hora original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Registrar una recarga desde la tablet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suele complicarse y cómo resolverlo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291840"/>
                <a:gridCol w="46634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habitual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tag no se lee o se pierde al mover la pistola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 común sobre metal; antena mal orientada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 anti‑metal Ø 30–50 mm; antena paralela al tag a 2–3 cm; probar en mesa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válvula no abre aunque el relé cierra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Válvula servoasistida con bomba de baja presión; bobina de otra tensión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Válvula de acción directa (presión mínima 0 bar); bobina 12 o 24 V según el camión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Litros erráticos o pulsos con la bomba apagada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Ruido eléctrico del vehículo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Cable apantallado con malla a GND solo en la caja; FLOW_DEBOUNCE_US más alto; optoacoplador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 que oscila ±50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Combustible en movimiento con el motor en marcha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Normal: el sistema tolera la precisión configurada; conciliaciones con el camión detenido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cobertura 4G en el tajo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 sin señal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Despacha con lista blanca local y sincroniza al recuperar señal; WiFi en el punto de recarga si nunca hay señal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dashboard no ve la cisterna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Clave de dispositivo o APN incorrectos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DEVICE_KEY y GSM_APN; el monitor serie muestra el error exacto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entrega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instalación se da por aceptada cuando se cumplen los nueve puntos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00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13716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Cisterna en línea en el dashboard con posición GPS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00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95160" y="13716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despachos de calibración con error menor al 0,5 %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3172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5603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23317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aforo cargada y nivel coherente con la varilla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233172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6520" y="25603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0" y="23317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equipos con tag registrado y leídos al menos una vez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5204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32918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con tag desconocido comprobado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329184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35204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95160" y="32918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Despacho sin señal sincronizado correctamente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25196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4805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25880" y="4251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Chofer capacitado: despacho, firma, ticket, recarga, manual de contingencia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425196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46520" y="44805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95160" y="4251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capacitado: alertas, reportes, cierre de alertas con nota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" y="54406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25880" y="52120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de config.h, K‑factor y aforo en la carpeta del vehículo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fotográfico y en video del piloto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capturar durante la primera instalación para completar esta guía y la capacitación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94960" cy="4846320"/>
          </a:xfrm>
          <a:prstGeom prst="roundRect">
            <a:avLst>
              <a:gd name="adj" fmla="val 2264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📷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(una por marco de esta guía)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6596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Corte e inserción del caudalímetro y la válvula en la línea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Sonda de nivel entrando por la boca de inspección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Antena RFID fijada en la boquilla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Caja IP67 montada en el camión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Interior de la caja cableado y etiquetado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Tag pegado en el cuello del tanque de un equipo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Extra: antenas en el techo, kit completo desembalado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371600"/>
            <a:ext cx="5394960" cy="4846320"/>
          </a:xfrm>
          <a:prstGeom prst="roundRect">
            <a:avLst>
              <a:gd name="adj" fmla="val 2264"/>
            </a:avLst>
          </a:prstGeom>
          <a:solidFill>
            <a:srgbClr val="FFF1EA"/>
          </a:solidFill>
          <a:ln w="6350">
            <a:solidFill>
              <a:srgbClr val="FFF1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🎥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087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55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 cortos (1 a 3 minutos, horizontal)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96596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Prueba en mesa: tag, pulsador, cierre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Encendido y primera conexión al dashboard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Calibración con recipiente patrón de 20 L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Despacho completo con firma y ticket (para capacitar choferes)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Bloqueo con tag desconocido (para mostrar al cliente)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 la carpeta docs/presentaciones/media y reemplazar los marcos de esta guía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¿Dudas durante la instalación?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detallada: docs/INSTALACION_PASO_A_PASO.md · conexiones y calibración: firmware/README.md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5120640"/>
            <a:ext cx="822960" cy="822960"/>
          </a:xfrm>
          <a:prstGeom prst="roundRect">
            <a:avLst>
              <a:gd name="adj" fmla="val 22222"/>
            </a:avLst>
          </a:prstGeom>
          <a:solidFill>
            <a:srgbClr val="EC835A"/>
          </a:solidFill>
          <a:ln w="12700">
            <a:solidFill>
              <a:srgbClr val="EC83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5257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 · control automatizado de combustible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Edison Zavala · [correo] · [teléfono]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FuelGuard · Guía de instalación</dc:title>
  <dc:subject>PptxGenJS Presentation</dc:subject>
  <dc:creator>FuelGuard</dc:creator>
  <cp:lastModifiedBy>FuelGuard</cp:lastModifiedBy>
  <cp:revision>1</cp:revision>
  <dcterms:created xsi:type="dcterms:W3CDTF">2026-09-25T15:55:55Z</dcterms:created>
  <dcterms:modified xsi:type="dcterms:W3CDTF">2026-09-25T15:55:55Z</dcterms:modified>
</cp:coreProperties>
</file>