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ao42PLgavdo" TargetMode="External"/><Relationship Id="rId3" Type="http://schemas.openxmlformats.org/officeDocument/2006/relationships/hyperlink" Target="https://youtu.be/ao42PLgavdo" TargetMode="External"/><Relationship Id="rId5" Type="http://schemas.openxmlformats.org/officeDocument/2006/relationships/hyperlink" Target="https://youtu.be/ao42PLgavdo" TargetMode="External"/><Relationship Id="rId7" Type="http://schemas.openxmlformats.org/officeDocument/2006/relationships/hyperlink" Target="https://youtu.be/qz8jcXVtNuY" TargetMode="External"/><Relationship Id="rId8" Type="http://schemas.openxmlformats.org/officeDocument/2006/relationships/hyperlink" Target="https://youtu.be/qz8jcXVtNuY" TargetMode="External"/><Relationship Id="rId10" Type="http://schemas.openxmlformats.org/officeDocument/2006/relationships/hyperlink" Target="https://youtu.be/qz8jcXVtNuY" TargetMode="External"/><Relationship Id="rId12" Type="http://schemas.openxmlformats.org/officeDocument/2006/relationships/hyperlink" Target="https://youtu.be/l8RDbHd1cak" TargetMode="External"/><Relationship Id="rId13" Type="http://schemas.openxmlformats.org/officeDocument/2006/relationships/hyperlink" Target="https://youtu.be/l8RDbHd1cak" TargetMode="External"/><Relationship Id="rId15" Type="http://schemas.openxmlformats.org/officeDocument/2006/relationships/hyperlink" Target="https://youtu.be/l8RDbHd1cak" TargetMode="External"/><Relationship Id="rId1" Type="http://schemas.openxmlformats.org/officeDocument/2006/relationships/image" Target="../media/image-8-1.jpg"/><Relationship Id="rId4" Type="http://schemas.openxmlformats.org/officeDocument/2006/relationships/image" Target="../media/image-8-2.png"/><Relationship Id="rId6" Type="http://schemas.openxmlformats.org/officeDocument/2006/relationships/image" Target="../media/image-8-3.jpg"/><Relationship Id="rId9" Type="http://schemas.openxmlformats.org/officeDocument/2006/relationships/image" Target="../media/image-8-4.png"/><Relationship Id="rId11" Type="http://schemas.openxmlformats.org/officeDocument/2006/relationships/image" Target="../media/image-8-5.jpg"/><Relationship Id="rId14" Type="http://schemas.openxmlformats.org/officeDocument/2006/relationships/image" Target="../media/image-8-6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PkwhzUWP8uE" TargetMode="External"/><Relationship Id="rId3" Type="http://schemas.openxmlformats.org/officeDocument/2006/relationships/hyperlink" Target="https://youtu.be/PkwhzUWP8uE" TargetMode="External"/><Relationship Id="rId5" Type="http://schemas.openxmlformats.org/officeDocument/2006/relationships/hyperlink" Target="https://youtu.be/PkwhzUWP8uE" TargetMode="External"/><Relationship Id="rId7" Type="http://schemas.openxmlformats.org/officeDocument/2006/relationships/hyperlink" Target="https://youtu.be/OSs0oUbmIqM" TargetMode="External"/><Relationship Id="rId8" Type="http://schemas.openxmlformats.org/officeDocument/2006/relationships/hyperlink" Target="https://youtu.be/OSs0oUbmIqM" TargetMode="External"/><Relationship Id="rId10" Type="http://schemas.openxmlformats.org/officeDocument/2006/relationships/hyperlink" Target="https://youtu.be/OSs0oUbmIqM" TargetMode="External"/><Relationship Id="rId12" Type="http://schemas.openxmlformats.org/officeDocument/2006/relationships/hyperlink" Target="https://youtu.be/vkLoBfkcm_U" TargetMode="External"/><Relationship Id="rId13" Type="http://schemas.openxmlformats.org/officeDocument/2006/relationships/hyperlink" Target="https://youtu.be/vkLoBfkcm_U" TargetMode="External"/><Relationship Id="rId15" Type="http://schemas.openxmlformats.org/officeDocument/2006/relationships/hyperlink" Target="https://youtu.be/vkLoBfkcm_U" TargetMode="External"/><Relationship Id="rId1" Type="http://schemas.openxmlformats.org/officeDocument/2006/relationships/image" Target="../media/image-12-1.jpg"/><Relationship Id="rId4" Type="http://schemas.openxmlformats.org/officeDocument/2006/relationships/image" Target="../media/image-12-2.png"/><Relationship Id="rId6" Type="http://schemas.openxmlformats.org/officeDocument/2006/relationships/image" Target="../media/image-12-3.jpg"/><Relationship Id="rId9" Type="http://schemas.openxmlformats.org/officeDocument/2006/relationships/image" Target="../media/image-12-4.png"/><Relationship Id="rId11" Type="http://schemas.openxmlformats.org/officeDocument/2006/relationships/image" Target="../media/image-12-5.jpg"/><Relationship Id="rId14" Type="http://schemas.openxmlformats.org/officeDocument/2006/relationships/image" Target="../media/image-12-6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oMFeT2PzwG0" TargetMode="External"/><Relationship Id="rId3" Type="http://schemas.openxmlformats.org/officeDocument/2006/relationships/hyperlink" Target="https://youtu.be/oMFeT2PzwG0" TargetMode="External"/><Relationship Id="rId5" Type="http://schemas.openxmlformats.org/officeDocument/2006/relationships/hyperlink" Target="https://youtu.be/oMFeT2PzwG0" TargetMode="External"/><Relationship Id="rId7" Type="http://schemas.openxmlformats.org/officeDocument/2006/relationships/hyperlink" Target="https://youtu.be/f8mnRFkr7Nc" TargetMode="External"/><Relationship Id="rId8" Type="http://schemas.openxmlformats.org/officeDocument/2006/relationships/hyperlink" Target="https://youtu.be/f8mnRFkr7Nc" TargetMode="External"/><Relationship Id="rId10" Type="http://schemas.openxmlformats.org/officeDocument/2006/relationships/hyperlink" Target="https://youtu.be/f8mnRFkr7Nc" TargetMode="External"/><Relationship Id="rId12" Type="http://schemas.openxmlformats.org/officeDocument/2006/relationships/hyperlink" Target="https://youtu.be/N6mRTJTVEbY" TargetMode="External"/><Relationship Id="rId13" Type="http://schemas.openxmlformats.org/officeDocument/2006/relationships/hyperlink" Target="https://youtu.be/N6mRTJTVEbY" TargetMode="External"/><Relationship Id="rId15" Type="http://schemas.openxmlformats.org/officeDocument/2006/relationships/hyperlink" Target="https://youtu.be/N6mRTJTVEbY" TargetMode="External"/><Relationship Id="rId1" Type="http://schemas.openxmlformats.org/officeDocument/2006/relationships/image" Target="../media/image-13-1.jpg"/><Relationship Id="rId4" Type="http://schemas.openxmlformats.org/officeDocument/2006/relationships/image" Target="../media/image-13-2.png"/><Relationship Id="rId6" Type="http://schemas.openxmlformats.org/officeDocument/2006/relationships/image" Target="../media/image-13-3.jpg"/><Relationship Id="rId9" Type="http://schemas.openxmlformats.org/officeDocument/2006/relationships/image" Target="../media/image-13-4.png"/><Relationship Id="rId11" Type="http://schemas.openxmlformats.org/officeDocument/2006/relationships/image" Target="../media/image-13-5.jpg"/><Relationship Id="rId14" Type="http://schemas.openxmlformats.org/officeDocument/2006/relationships/image" Target="../media/image-13-6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QuZk-UYsifQ" TargetMode="External"/><Relationship Id="rId3" Type="http://schemas.openxmlformats.org/officeDocument/2006/relationships/hyperlink" Target="https://youtu.be/QuZk-UYsifQ" TargetMode="External"/><Relationship Id="rId5" Type="http://schemas.openxmlformats.org/officeDocument/2006/relationships/hyperlink" Target="https://youtu.be/QuZk-UYsifQ" TargetMode="External"/><Relationship Id="rId7" Type="http://schemas.openxmlformats.org/officeDocument/2006/relationships/hyperlink" Target="https://youtu.be/V94yF1DhnUU" TargetMode="External"/><Relationship Id="rId8" Type="http://schemas.openxmlformats.org/officeDocument/2006/relationships/hyperlink" Target="https://youtu.be/V94yF1DhnUU" TargetMode="External"/><Relationship Id="rId10" Type="http://schemas.openxmlformats.org/officeDocument/2006/relationships/hyperlink" Target="https://youtu.be/V94yF1DhnUU" TargetMode="External"/><Relationship Id="rId12" Type="http://schemas.openxmlformats.org/officeDocument/2006/relationships/hyperlink" Target="https://youtu.be/qcmB7YRpoFw" TargetMode="External"/><Relationship Id="rId13" Type="http://schemas.openxmlformats.org/officeDocument/2006/relationships/hyperlink" Target="https://youtu.be/qcmB7YRpoFw" TargetMode="External"/><Relationship Id="rId15" Type="http://schemas.openxmlformats.org/officeDocument/2006/relationships/hyperlink" Target="https://youtu.be/qcmB7YRpoFw" TargetMode="External"/><Relationship Id="rId1" Type="http://schemas.openxmlformats.org/officeDocument/2006/relationships/image" Target="../media/image-17-1.jpg"/><Relationship Id="rId4" Type="http://schemas.openxmlformats.org/officeDocument/2006/relationships/image" Target="../media/image-17-2.png"/><Relationship Id="rId6" Type="http://schemas.openxmlformats.org/officeDocument/2006/relationships/image" Target="../media/image-17-3.jpg"/><Relationship Id="rId9" Type="http://schemas.openxmlformats.org/officeDocument/2006/relationships/image" Target="../media/image-17-4.png"/><Relationship Id="rId11" Type="http://schemas.openxmlformats.org/officeDocument/2006/relationships/image" Target="../media/image-17-5.jpg"/><Relationship Id="rId14" Type="http://schemas.openxmlformats.org/officeDocument/2006/relationships/image" Target="../media/image-17-6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DmYBOnf2ark" TargetMode="External"/><Relationship Id="rId3" Type="http://schemas.openxmlformats.org/officeDocument/2006/relationships/hyperlink" Target="https://youtu.be/DmYBOnf2ark" TargetMode="External"/><Relationship Id="rId5" Type="http://schemas.openxmlformats.org/officeDocument/2006/relationships/hyperlink" Target="https://youtu.be/DmYBOnf2ark" TargetMode="External"/><Relationship Id="rId7" Type="http://schemas.openxmlformats.org/officeDocument/2006/relationships/hyperlink" Target="https://youtu.be/Ks_KHxz97NM" TargetMode="External"/><Relationship Id="rId8" Type="http://schemas.openxmlformats.org/officeDocument/2006/relationships/hyperlink" Target="https://youtu.be/Ks_KHxz97NM" TargetMode="External"/><Relationship Id="rId10" Type="http://schemas.openxmlformats.org/officeDocument/2006/relationships/hyperlink" Target="https://youtu.be/Ks_KHxz97NM" TargetMode="External"/><Relationship Id="rId1" Type="http://schemas.openxmlformats.org/officeDocument/2006/relationships/image" Target="../media/image-22-1.jpg"/><Relationship Id="rId4" Type="http://schemas.openxmlformats.org/officeDocument/2006/relationships/image" Target="../media/image-22-2.png"/><Relationship Id="rId6" Type="http://schemas.openxmlformats.org/officeDocument/2006/relationships/image" Target="../media/image-22-3.jpg"/><Relationship Id="rId9" Type="http://schemas.openxmlformats.org/officeDocument/2006/relationships/image" Target="../media/image-22-4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1C5CAB">
              <a:alpha val="22000"/>
            </a:srgbClr>
          </a:solidFill>
          <a:ln w="12700">
            <a:solidFill>
              <a:srgbClr val="1C5CA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840480"/>
            <a:ext cx="3657600" cy="3657600"/>
          </a:xfrm>
          <a:prstGeom prst="ellipse">
            <a:avLst/>
          </a:prstGeom>
          <a:solidFill>
            <a:srgbClr val="F0803C">
              <a:alpha val="18000"/>
            </a:srgbClr>
          </a:solidFill>
          <a:ln w="12700">
            <a:solidFill>
              <a:srgbClr val="F080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73152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F0803C"/>
          </a:solidFill>
          <a:ln w="12700">
            <a:solidFill>
              <a:srgbClr val="F080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731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731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288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INSTALACIÓN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4028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del kit FuelGuard en la cisterna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38912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a paso mecánico, eléctrico y de puesta en marcha, con videos de referencia para cada etapa. Un día de trabajo para dos personas.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60350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de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23760" y="1097280"/>
            <a:ext cx="4754880" cy="4663440"/>
          </a:xfrm>
          <a:prstGeom prst="roundRect">
            <a:avLst>
              <a:gd name="adj" fmla="val 3922"/>
            </a:avLst>
          </a:prstGeom>
          <a:solidFill>
            <a:srgbClr val="0E1626"/>
          </a:solidFill>
          <a:ln w="12700">
            <a:solidFill>
              <a:srgbClr val="1F2F5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12" name="Image 0" descr="C:\Users\EdisonZavalaOrellana\Proyectos\fuelguard\docs\presentaciones\build\img\chofer-inic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06640" y="1280160"/>
            <a:ext cx="4389120" cy="429768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223760" y="5852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del chofer en la tablet del camión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etapas, un día de trabajo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hace falta programar: el firmware está hecho y solo se edita un archivo de configuración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417320" y="2331720"/>
            <a:ext cx="9326880" cy="0"/>
          </a:xfrm>
          <a:prstGeom prst="line">
            <a:avLst/>
          </a:prstGeom>
          <a:noFill/>
          <a:ln w="38100">
            <a:solidFill>
              <a:srgbClr val="DE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920240"/>
            <a:ext cx="822960" cy="822960"/>
          </a:xfrm>
          <a:prstGeom prst="ellipse">
            <a:avLst/>
          </a:prstGeom>
          <a:solidFill>
            <a:srgbClr val="1C5CA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y prueba en mesa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20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· 2–3 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1920240"/>
            <a:ext cx="822960" cy="822960"/>
          </a:xfrm>
          <a:prstGeom prst="ellipse">
            <a:avLst/>
          </a:prstGeom>
          <a:solidFill>
            <a:srgbClr val="F080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2880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 mecánico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3520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Camión · 2–3 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1920240"/>
            <a:ext cx="822960" cy="822960"/>
          </a:xfrm>
          <a:prstGeom prst="ellipse">
            <a:avLst/>
          </a:prstGeom>
          <a:solidFill>
            <a:srgbClr val="F080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2880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 eléctrico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520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Camión · 2–3 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Electricista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1920240"/>
            <a:ext cx="822960" cy="822960"/>
          </a:xfrm>
          <a:prstGeom prst="ellipse">
            <a:avLst/>
          </a:prstGeom>
          <a:solidFill>
            <a:srgbClr val="1E9E4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2880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en los equipos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3520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Faena · 5 min por equipo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332720" y="1920240"/>
            <a:ext cx="822960" cy="822960"/>
          </a:xfrm>
          <a:prstGeom prst="ellipse">
            <a:avLst/>
          </a:prstGeom>
          <a:solidFill>
            <a:srgbClr val="1C5CA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33272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9692640" y="2880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 y prueba final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692640" y="3520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Camión · 1–2 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+ chofer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3611880" cy="1783080"/>
          </a:xfrm>
          <a:prstGeom prst="roundRect">
            <a:avLst>
              <a:gd name="adj" fmla="val 7179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459943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599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👷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459943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hace qué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749808" y="5111496"/>
            <a:ext cx="32095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Mecánico: línea de combustible y sensor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Electricista: caja, cableado y antenas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FuelGuard: firmware, tags, calibración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297680" y="4434840"/>
            <a:ext cx="3611880" cy="1783080"/>
          </a:xfrm>
          <a:prstGeom prst="roundRect">
            <a:avLst>
              <a:gd name="adj" fmla="val 7179"/>
            </a:avLst>
          </a:prstGeom>
          <a:solidFill>
            <a:srgbClr val="E8F6EC"/>
          </a:solidFill>
          <a:ln w="6350">
            <a:solidFill>
              <a:srgbClr val="E8F6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80560" y="459943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480560" y="4599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0" y="459943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6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ir al camión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4498848" y="5111496"/>
            <a:ext cx="32095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recibido y verificado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Cisterna creada en el dashboard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en mesa aprobada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046720" y="4434840"/>
            <a:ext cx="3566160" cy="1783080"/>
          </a:xfrm>
          <a:prstGeom prst="roundRect">
            <a:avLst>
              <a:gd name="adj" fmla="val 7179"/>
            </a:avLst>
          </a:prstGeom>
          <a:solidFill>
            <a:srgbClr val="FFF0E6"/>
          </a:solidFill>
          <a:ln w="6350">
            <a:solidFill>
              <a:srgbClr val="FFF0E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0" y="459943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29600" y="4599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8778240" y="459943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55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de referencia</a:t>
            </a:r>
            <a:endParaRPr lang="en-US" sz="1450" dirty="0"/>
          </a:p>
        </p:txBody>
      </p:sp>
      <p:sp>
        <p:nvSpPr>
          <p:cNvPr id="41" name="Text 39"/>
          <p:cNvSpPr txBox="1"/>
          <p:nvPr/>
        </p:nvSpPr>
        <p:spPr>
          <a:xfrm>
            <a:off x="8247888" y="5111496"/>
            <a:ext cx="31638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incluye videos de fabricantes y técnicos que muestran el procedimiento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Escanee el QR o toque la miniatura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estándar por cisterna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compra con proveedores y precios en docs/LISTA_DE_COMPRA_PILOTO.md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657600" cy="4800600"/>
          </a:xfrm>
          <a:prstGeom prst="roundRect">
            <a:avLst>
              <a:gd name="adj" fmla="val 3500"/>
            </a:avLst>
          </a:prstGeom>
          <a:solidFill>
            <a:srgbClr val="FFF0E6"/>
          </a:solidFill>
          <a:ln w="6350">
            <a:solidFill>
              <a:srgbClr val="FFF0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8191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81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5819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5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combustible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093976"/>
            <a:ext cx="3255264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Caudalímetro de pulsos 1½" (Piusi K600/4) con hoja de K‑factor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Electroválvula NC 1½", 12/24 V, sello Viton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Pistola automática (si la actual no lo es)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Niples, uniones, teflón y sellador para hidrocarburos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Abrazaderas y soportes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417320"/>
            <a:ext cx="3657600" cy="4800600"/>
          </a:xfrm>
          <a:prstGeom prst="roundRect">
            <a:avLst>
              <a:gd name="adj" fmla="val 3500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58191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1581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15819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Electrónica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44568" y="2093976"/>
            <a:ext cx="3255264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 ESP32 + 4G + GPS (LILYGO T‑SIM7600G‑H)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Lector RFID RDM6300 y bobina de antena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 nivel hidrostático 4–20 mA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relé 5 V, fuente DC‑DC 24→5 V 3 A, shunt 150 Ω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Antenas LTE y GPS, SIM M2M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IP67, prensaestopas, fusible 3 A, supresor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417320"/>
            <a:ext cx="3474720" cy="2286000"/>
          </a:xfrm>
          <a:prstGeom prst="roundRect">
            <a:avLst>
              <a:gd name="adj" fmla="val 5600"/>
            </a:avLst>
          </a:prstGeom>
          <a:solidFill>
            <a:srgbClr val="E8F6EC"/>
          </a:solidFill>
          <a:ln w="6350">
            <a:solidFill>
              <a:srgbClr val="E8F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158191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1581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0" y="158191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6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equipo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339328" y="2093976"/>
            <a:ext cx="3072384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RFID anti‑metal 125 kHz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Desengrasante y resina epóxica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38160" y="3931920"/>
            <a:ext cx="3474720" cy="2286000"/>
          </a:xfrm>
          <a:prstGeom prst="roundRect">
            <a:avLst>
              <a:gd name="adj" fmla="val 5600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409651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21040" y="4096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🧰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869680" y="409651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339328" y="4608576"/>
            <a:ext cx="3072384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Llaves de tubo, cortatubos, terraja 1½"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Multímetro, crimpadora, etiquetadora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Recipiente patrón de 20 L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con PlatformIO y cable USB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F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1C5CAB">
              <a:alpha val="22000"/>
            </a:srgbClr>
          </a:solidFill>
          <a:ln w="12700">
            <a:solidFill>
              <a:srgbClr val="1C5CA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840480"/>
            <a:ext cx="3657600" cy="3657600"/>
          </a:xfrm>
          <a:prstGeom prst="ellipse">
            <a:avLst/>
          </a:prstGeom>
          <a:solidFill>
            <a:srgbClr val="F0803C">
              <a:alpha val="18000"/>
            </a:srgbClr>
          </a:solidFill>
          <a:ln w="12700">
            <a:solidFill>
              <a:srgbClr val="F080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011680"/>
            <a:ext cx="2194560" cy="2194560"/>
          </a:xfrm>
          <a:prstGeom prst="ellipse">
            <a:avLst/>
          </a:prstGeom>
          <a:solidFill>
            <a:srgbClr val="F0803C"/>
          </a:solidFill>
          <a:ln w="12700">
            <a:solidFill>
              <a:srgbClr val="F080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20116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y prueba en mesa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3200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se puede validar en la oficina antes de tocar el camión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42976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43708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4663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26480" y="42976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43708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4663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3 horas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778240" y="42976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15400" y="43708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4663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A · PREPARACIÓN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de alta la cisterna y los equipos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 de dispositivo que entrega el dashboard es la que va en el firmware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pic>
        <p:nvPicPr>
          <p:cNvPr id="6" name="Image 0" descr="C:\Users\EdisonZavalaOrellana\Proyectos\fuelguard\docs\presentaciones\build\img\dashboard-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223760" cy="450799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8046720" y="1417320"/>
            <a:ext cx="3566160" cy="4507992"/>
          </a:xfrm>
          <a:prstGeom prst="roundRect">
            <a:avLst>
              <a:gd name="adj" fmla="val 3590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47888" y="1581912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47888" y="2093976"/>
            <a:ext cx="3163824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Administración → Cisternas → Nueva cisterna. Anote la clave: se muestra una sola vez.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Equipos → Nuevo equipo: código, capacidad del tanque y consumo nominal en L/h.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Usuarios: chofer asignado a la cisterna y operadores de cada equipo.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Parámetros: geocerca, horario y precio del litro.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309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tag RFID de cada equipo se completa en la etapa D, cuando se lee con el lector.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A · PREPARACIÓN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y grabar el firmware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archivo de configuración y un comando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852160" cy="3794760"/>
          </a:xfrm>
          <a:prstGeom prst="roundRect">
            <a:avLst>
              <a:gd name="adj" fmla="val 3373"/>
            </a:avLst>
          </a:prstGeom>
          <a:solidFill>
            <a:srgbClr val="0E1626"/>
          </a:solidFill>
          <a:ln w="12700">
            <a:solidFill>
              <a:srgbClr val="0E1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54480"/>
            <a:ext cx="5486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firmware/include/config.h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DEVICE_KEY   "dev-cist-01-8f3a…"  // dashboard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SERVER_HOST  "combustible.miempresa.com"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SERVER_PORT  443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SERVER_TLS  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GSM_APN      "m2m.entel.cl"       // según SIM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K_FACTOR_PULSES_PER_L  100.0f  // hoja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TANK_CAPACITY_L        10000.0f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LEVEL_TABLE {{0,0},{50,5000},{100,10000}}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grabar y ver el monitor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E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pio run -e esp32-sim7600 -t upload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E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pio device monitor -b 115200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75120" y="1417320"/>
            <a:ext cx="4937760" cy="3794760"/>
          </a:xfrm>
          <a:prstGeom prst="roundRect">
            <a:avLst>
              <a:gd name="adj" fmla="val 3373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158191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0" y="1581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158191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comprobar en el monitor serie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76288" y="2093976"/>
            <a:ext cx="4535424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"heartbeat ok, señal N" → el controlador llegó al servidor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dashboard la cisterna pasa a "en línea" con posición GPS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LED: parpadeo lento = en línea, rápido = sin señal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conecta: revisar DEVICE_KEY, APN y antena LTE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394960"/>
            <a:ext cx="11064240" cy="822960"/>
          </a:xfrm>
          <a:prstGeom prst="roundRect">
            <a:avLst>
              <a:gd name="adj" fmla="val 15556"/>
            </a:avLst>
          </a:prstGeom>
          <a:solidFill>
            <a:srgbClr val="E8F6EC"/>
          </a:solidFill>
          <a:ln w="6350">
            <a:solidFill>
              <a:srgbClr val="E8F6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5559552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PlatformIO se instala con  pip install platformio . Compilación verificada para las dos variantes: esp32-wifi (banco de pruebas) y esp32-sim7600 (producción).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A · PREPARACIÓN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en mesa: el sistema completo sin el camión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esto funciona, el 80 % del riesgo de la instalación queda resuelto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pic>
        <p:nvPicPr>
          <p:cNvPr id="6" name="Image 0" descr="C:\Users\EdisonZavalaOrellana\Proyectos\fuelguard\docs\presentaciones\build\img\diagrama-mes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680960" cy="2971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03920" y="1417320"/>
            <a:ext cx="3108960" cy="2971800"/>
          </a:xfrm>
          <a:prstGeom prst="roundRect">
            <a:avLst>
              <a:gd name="adj" fmla="val 3692"/>
            </a:avLst>
          </a:prstGeom>
          <a:solidFill>
            <a:srgbClr val="F8F9FB"/>
          </a:solidFill>
          <a:ln w="12700">
            <a:solidFill>
              <a:srgbClr val="8C93A0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8503920" y="23545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29032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PROPIO 1 · Prueba en mesa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3223260"/>
            <a:ext cx="283464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→ autorizado → pulsador → cierre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4572000"/>
            <a:ext cx="5486400" cy="1645920"/>
          </a:xfrm>
          <a:prstGeom prst="roundRect">
            <a:avLst>
              <a:gd name="adj" fmla="val 7778"/>
            </a:avLst>
          </a:prstGeom>
          <a:solidFill>
            <a:srgbClr val="FFF0E6"/>
          </a:solidFill>
          <a:ln w="6350">
            <a:solidFill>
              <a:srgbClr val="FFF0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473659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4736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473659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55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los tags anti‑metal aquí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749808" y="5248656"/>
            <a:ext cx="508406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Pegar uno sobre una plancha de acero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estable a 2–3 cm; pérdida en menos de 1 s al alejar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falla: tag más grande o antena reubicada, antes de comprar el lote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17920" y="4572000"/>
            <a:ext cx="5394960" cy="1645920"/>
          </a:xfrm>
          <a:prstGeom prst="roundRect">
            <a:avLst>
              <a:gd name="adj" fmla="val 7778"/>
            </a:avLst>
          </a:prstGeom>
          <a:solidFill>
            <a:srgbClr val="E8F6EC"/>
          </a:solidFill>
          <a:ln w="6350">
            <a:solidFill>
              <a:srgbClr val="E8F6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0" y="473659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0" y="4736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0" y="473659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6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6419088" y="5248656"/>
            <a:ext cx="499262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Despacho en el historial del dashboard con hash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"tag no autorizado" con un tag desconocido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con firma desde la tablet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A · PREPARACIÓN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de referencia · preparación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programación, la placa 4G y el lector RFID que usa el kit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66160" cy="45262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C:\Users\EdisonZavalaOrellana\Proyectos\fuelguard\docs\presentaciones\build\img\yt\ao42PLgavdo.jpg">
            <a:hlinkClick r:id="rId2" tooltip="Ver en YouTub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3291840" cy="18516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947672" y="2205990"/>
            <a:ext cx="768096" cy="54864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947672" y="2205990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" y="1645920"/>
            <a:ext cx="1188720" cy="274320"/>
          </a:xfrm>
          <a:prstGeom prst="roundRect">
            <a:avLst>
              <a:gd name="adj" fmla="val 33333"/>
            </a:avLst>
          </a:prstGeom>
          <a:solidFill>
            <a:srgbClr val="F0803C"/>
          </a:solidFill>
          <a:ln w="12700">
            <a:solidFill>
              <a:srgbClr val="F0803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1645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</a:t>
            </a:r>
            <a:endParaRPr lang="en-US" sz="900" dirty="0"/>
          </a:p>
        </p:txBody>
      </p:sp>
      <p:sp>
        <p:nvSpPr>
          <p:cNvPr id="12" name="Text 9">
            <a:hlinkClick r:id="rId3" tooltip="https://youtu.be/ao42PLgavdo"/>
          </p:cNvPr>
          <p:cNvSpPr txBox="1"/>
          <p:nvPr/>
        </p:nvSpPr>
        <p:spPr>
          <a:xfrm>
            <a:off x="685800" y="349758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https://youtu.be/ao42PLgavd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✅ Cómo INSTALAR PlatformIO en Visual Studio Code para ESP32 (Guía Paso a Paso)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40279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Yamir TV · YouTube</a:t>
            </a:r>
            <a:endParaRPr lang="en-US" sz="950" dirty="0"/>
          </a:p>
        </p:txBody>
      </p:sp>
      <p:pic>
        <p:nvPicPr>
          <p:cNvPr id="14" name="Image 1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4636008"/>
            <a:ext cx="960120" cy="9601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926080" y="56144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https://youtu.be/ao42PLgavdo</a:t>
            </a:r>
            <a:endParaRPr lang="en-US" sz="650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4320540"/>
            <a:ext cx="219456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mirar: </a:t>
            </a:r>
            <a:pPr indent="0" marL="0">
              <a:buNone/>
            </a:pPr>
            <a:r>
              <a:rPr lang="en-US" sz="10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de PlatformIO en VS Code y primera grabación de un ESP32; en FuelGuard el proyecto ya está listo, solo se edita config.h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315968" y="1417320"/>
            <a:ext cx="3566160" cy="45262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C:\Users\EdisonZavalaOrellana\Proyectos\fuelguard\docs\presentaciones\build\img\yt\qz8jcXVtNuY.jpg">
            <a:hlinkClick r:id="rId7" tooltip="Ver en YouTube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3128" y="1554480"/>
            <a:ext cx="3291840" cy="185166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715000" y="2205990"/>
            <a:ext cx="768096" cy="54864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715000" y="2205990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4544568" y="1645920"/>
            <a:ext cx="1188720" cy="274320"/>
          </a:xfrm>
          <a:prstGeom prst="roundRect">
            <a:avLst>
              <a:gd name="adj" fmla="val 33333"/>
            </a:avLst>
          </a:prstGeom>
          <a:solidFill>
            <a:srgbClr val="F0803C"/>
          </a:solidFill>
          <a:ln w="12700">
            <a:solidFill>
              <a:srgbClr val="F0803C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544568" y="1645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 4G</a:t>
            </a:r>
            <a:endParaRPr lang="en-US" sz="900" dirty="0"/>
          </a:p>
        </p:txBody>
      </p:sp>
      <p:sp>
        <p:nvSpPr>
          <p:cNvPr id="23" name="Text 18">
            <a:hlinkClick r:id="rId8" tooltip="https://youtu.be/qz8jcXVtNuY"/>
          </p:cNvPr>
          <p:cNvSpPr txBox="1"/>
          <p:nvPr/>
        </p:nvSpPr>
        <p:spPr>
          <a:xfrm>
            <a:off x="4453128" y="349758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https://youtu.be/qz8jcXVtNu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SIM7600G - H 4G LTE ESP32, Send and Receive Messages, Lilygo T-SIM7600G-H, bye to sim800L &amp; SIM900A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4453128" y="40279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Clinic · YouTube</a:t>
            </a:r>
            <a:endParaRPr lang="en-US" sz="950" dirty="0"/>
          </a:p>
        </p:txBody>
      </p:sp>
      <p:pic>
        <p:nvPicPr>
          <p:cNvPr id="25" name="Image 3" descr="preencoded.png">
            <a:hlinkClick r:id="rId10" tooltip="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4848" y="4636008"/>
            <a:ext cx="960120" cy="9601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693408" y="56144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https://youtu.be/qz8jcXVtNuY</a:t>
            </a:r>
            <a:endParaRPr lang="en-US" sz="650" dirty="0"/>
          </a:p>
        </p:txBody>
      </p:sp>
      <p:sp>
        <p:nvSpPr>
          <p:cNvPr id="27" name="Text 21"/>
          <p:cNvSpPr txBox="1"/>
          <p:nvPr/>
        </p:nvSpPr>
        <p:spPr>
          <a:xfrm>
            <a:off x="4453128" y="4320540"/>
            <a:ext cx="219456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mirar: </a:t>
            </a:r>
            <a:pPr indent="0" marL="0">
              <a:buNone/>
            </a:pPr>
            <a:r>
              <a:rPr lang="en-US" sz="10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placa LILYGO T‑SIM7600G‑H: dónde va la SIM, las antenas LTE y GPS y cómo se alimenta; es el controlador del piloto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8083296" y="1417320"/>
            <a:ext cx="3566160" cy="45262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9" name="Image 4" descr="C:\Users\EdisonZavalaOrellana\Proyectos\fuelguard\docs\presentaciones\build\img\yt\l8RDbHd1cak.jpg">
            <a:hlinkClick r:id="rId12" tooltip="Ver en YouTube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0456" y="1554480"/>
            <a:ext cx="3291840" cy="185166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482328" y="2205990"/>
            <a:ext cx="768096" cy="54864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9482328" y="2205990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8311896" y="1645920"/>
            <a:ext cx="1188720" cy="274320"/>
          </a:xfrm>
          <a:prstGeom prst="roundRect">
            <a:avLst>
              <a:gd name="adj" fmla="val 33333"/>
            </a:avLst>
          </a:prstGeom>
          <a:solidFill>
            <a:srgbClr val="F0803C"/>
          </a:solidFill>
          <a:ln w="12700">
            <a:solidFill>
              <a:srgbClr val="F0803C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8311896" y="1645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LECTOR RFID</a:t>
            </a:r>
            <a:endParaRPr lang="en-US" sz="900" dirty="0"/>
          </a:p>
        </p:txBody>
      </p:sp>
      <p:sp>
        <p:nvSpPr>
          <p:cNvPr id="34" name="Text 27">
            <a:hlinkClick r:id="rId13" tooltip="https://youtu.be/l8RDbHd1cak"/>
          </p:cNvPr>
          <p:cNvSpPr txBox="1"/>
          <p:nvPr/>
        </p:nvSpPr>
        <p:spPr>
          <a:xfrm>
            <a:off x="8220456" y="349758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invalidUrl="" action="" tgtFrame="" tooltip="https://youtu.be/l8RDbHd1ca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RFID Readers RDM6300 and RDM630 (Arduino-Tutorial) | UATS A&amp;S #15</a:t>
            </a:r>
            <a:endParaRPr lang="en-US" sz="1100" dirty="0"/>
          </a:p>
        </p:txBody>
      </p:sp>
      <p:sp>
        <p:nvSpPr>
          <p:cNvPr id="35" name="Text 28"/>
          <p:cNvSpPr txBox="1"/>
          <p:nvPr/>
        </p:nvSpPr>
        <p:spPr>
          <a:xfrm>
            <a:off x="8220456" y="40279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Schoeffler · YouTube</a:t>
            </a:r>
            <a:endParaRPr lang="en-US" sz="950" dirty="0"/>
          </a:p>
        </p:txBody>
      </p:sp>
      <p:pic>
        <p:nvPicPr>
          <p:cNvPr id="36" name="Image 5" descr="preencoded.png">
            <a:hlinkClick r:id="rId15" tooltip="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52176" y="4636008"/>
            <a:ext cx="960120" cy="96012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460736" y="56144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https://youtu.be/l8RDbHd1cak</a:t>
            </a:r>
            <a:endParaRPr lang="en-US" sz="650" dirty="0"/>
          </a:p>
        </p:txBody>
      </p:sp>
      <p:sp>
        <p:nvSpPr>
          <p:cNvPr id="38" name="Text 30"/>
          <p:cNvSpPr txBox="1"/>
          <p:nvPr/>
        </p:nvSpPr>
        <p:spPr>
          <a:xfrm>
            <a:off x="8220456" y="4320540"/>
            <a:ext cx="219456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mirar: </a:t>
            </a:r>
            <a:pPr indent="0" marL="0">
              <a:buNone/>
            </a:pPr>
            <a:r>
              <a:rPr lang="en-US" sz="10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conecta el lector RDM6300 y cómo entrega el número del tag por serie; es el mismo lector que va en la pistola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F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1C5CAB">
              <a:alpha val="22000"/>
            </a:srgbClr>
          </a:solidFill>
          <a:ln w="12700">
            <a:solidFill>
              <a:srgbClr val="1C5CA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840480"/>
            <a:ext cx="3657600" cy="3657600"/>
          </a:xfrm>
          <a:prstGeom prst="ellipse">
            <a:avLst/>
          </a:prstGeom>
          <a:solidFill>
            <a:srgbClr val="F0803C">
              <a:alpha val="18000"/>
            </a:srgbClr>
          </a:solidFill>
          <a:ln w="12700">
            <a:solidFill>
              <a:srgbClr val="F080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011680"/>
            <a:ext cx="2194560" cy="2194560"/>
          </a:xfrm>
          <a:prstGeom prst="ellipse">
            <a:avLst/>
          </a:prstGeom>
          <a:solidFill>
            <a:srgbClr val="F0803C"/>
          </a:solidFill>
          <a:ln w="12700">
            <a:solidFill>
              <a:srgbClr val="F080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20116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 mecánico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3200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Caudalímetro y electroválvula en la línea, sonda de nivel en el tanque, antena RFID en la pistola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42976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43708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4663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Camión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26480" y="42976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43708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4663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3 horas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778240" y="42976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15400" y="43708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4663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Mecánico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B · MONTAJE MECÁNICO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va cada pieza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Intercalar caudalímetro y electroválvula en serie, después de la bomba y del filtro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pic>
        <p:nvPicPr>
          <p:cNvPr id="6" name="Image 0" descr="C:\Users\EdisonZavalaOrellana\Proyectos\fuelguard\docs\presentaciones\build\img\diagrama-lin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B · MONTAJE MECÁNICO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puntos delicados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reservados para las fotos del piloto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66160" cy="2560320"/>
          </a:xfrm>
          <a:prstGeom prst="roundRect">
            <a:avLst>
              <a:gd name="adj" fmla="val 4286"/>
            </a:avLst>
          </a:prstGeom>
          <a:solidFill>
            <a:srgbClr val="F8F9FB"/>
          </a:solidFill>
          <a:ln w="12700">
            <a:solidFill>
              <a:srgbClr val="8C93A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97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1 · Corte e inserción en la línea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3566160" cy="2103120"/>
          </a:xfrm>
          <a:prstGeom prst="roundRect">
            <a:avLst>
              <a:gd name="adj" fmla="val 6087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4279392"/>
            <a:ext cx="420624" cy="42062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279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279392"/>
            <a:ext cx="263347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Tramo recto y accesible después del filtro. Respetar la flecha de flujo. Sellar con teflón o sellador para hidrocarburos. Fijar al chasis: nunca colgado de la manguera.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15968" y="1417320"/>
            <a:ext cx="3566160" cy="2560320"/>
          </a:xfrm>
          <a:prstGeom prst="roundRect">
            <a:avLst>
              <a:gd name="adj" fmla="val 4286"/>
            </a:avLst>
          </a:prstGeom>
          <a:solidFill>
            <a:srgbClr val="F8F9FB"/>
          </a:solidFill>
          <a:ln w="12700">
            <a:solidFill>
              <a:srgbClr val="8C93A0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4315968" y="2148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4453128" y="2697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2 · Sonda de nivel por la boca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15968" y="4114800"/>
            <a:ext cx="3566160" cy="2103120"/>
          </a:xfrm>
          <a:prstGeom prst="roundRect">
            <a:avLst>
              <a:gd name="adj" fmla="val 6087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98848" y="4279392"/>
            <a:ext cx="420624" cy="42062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98848" y="4279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47488" y="4279392"/>
            <a:ext cx="263347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Introducir hasta apoyar en el fondo, fijar el cable con prensaestopas en el tapón. Sin perforar ni soldar. Anotar el compartimento si hay rompeolas.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83296" y="1417320"/>
            <a:ext cx="3566160" cy="2560320"/>
          </a:xfrm>
          <a:prstGeom prst="roundRect">
            <a:avLst>
              <a:gd name="adj" fmla="val 4286"/>
            </a:avLst>
          </a:prstGeom>
          <a:solidFill>
            <a:srgbClr val="F8F9FB"/>
          </a:solidFill>
          <a:ln w="12700">
            <a:solidFill>
              <a:srgbClr val="8C93A0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8083296" y="2148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8220456" y="2697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3 · Antena RFID en la boquilla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83296" y="4114800"/>
            <a:ext cx="3566160" cy="2103120"/>
          </a:xfrm>
          <a:prstGeom prst="roundRect">
            <a:avLst>
              <a:gd name="adj" fmla="val 6087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66176" y="4279392"/>
            <a:ext cx="420624" cy="42062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66176" y="4279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814816" y="4279392"/>
            <a:ext cx="263347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Bobina a 2–3 cm de la punta con abrazadera plástica, cubierta con resina epóxica. Cable en espiral protector junto a la manguera.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309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fugas obligatoria antes de la etapa C: bomba encendida con la pistola cerrada, revisar todas las uniones.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B · MONTAJE MECÁNICO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de referencia · caudalímetro y electroválvula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son las piezas por dentro y cómo verificar que funcionan antes de montarlas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66160" cy="45262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C:\Users\EdisonZavalaOrellana\Proyectos\fuelguard\docs\presentaciones\build\img\yt\PkwhzUWP8uE.jpg">
            <a:hlinkClick r:id="rId2" tooltip="Ver en YouTub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3291840" cy="18516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947672" y="2205990"/>
            <a:ext cx="768096" cy="54864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947672" y="2205990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" y="1645920"/>
            <a:ext cx="1188720" cy="274320"/>
          </a:xfrm>
          <a:prstGeom prst="roundRect">
            <a:avLst>
              <a:gd name="adj" fmla="val 33333"/>
            </a:avLst>
          </a:prstGeom>
          <a:solidFill>
            <a:srgbClr val="F0803C"/>
          </a:solidFill>
          <a:ln w="12700">
            <a:solidFill>
              <a:srgbClr val="F0803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1645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CAUDALÍMETRO</a:t>
            </a:r>
            <a:endParaRPr lang="en-US" sz="900" dirty="0"/>
          </a:p>
        </p:txBody>
      </p:sp>
      <p:sp>
        <p:nvSpPr>
          <p:cNvPr id="12" name="Text 9">
            <a:hlinkClick r:id="rId3" tooltip="https://youtu.be/PkwhzUWP8uE"/>
          </p:cNvPr>
          <p:cNvSpPr txBox="1"/>
          <p:nvPr/>
        </p:nvSpPr>
        <p:spPr>
          <a:xfrm>
            <a:off x="685800" y="349758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https://youtu.be/PkwhzUWP8u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Digital flow meters for fuel presented by PIUSI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40279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Piusi · YouTube</a:t>
            </a:r>
            <a:endParaRPr lang="en-US" sz="950" dirty="0"/>
          </a:p>
        </p:txBody>
      </p:sp>
      <p:pic>
        <p:nvPicPr>
          <p:cNvPr id="14" name="Image 1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4636008"/>
            <a:ext cx="960120" cy="9601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926080" y="56144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https://youtu.be/PkwhzUWP8uE</a:t>
            </a:r>
            <a:endParaRPr lang="en-US" sz="650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4320540"/>
            <a:ext cx="219456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mirar: </a:t>
            </a:r>
            <a:pPr indent="0" marL="0">
              <a:buNone/>
            </a:pPr>
            <a:r>
              <a:rPr lang="en-US" sz="10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familia de caudalímetros digitales Piusi (K600 incluido), la salida de pulsos y su ubicación en la línea después de la bomba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315968" y="1417320"/>
            <a:ext cx="3566160" cy="45262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C:\Users\EdisonZavalaOrellana\Proyectos\fuelguard\docs\presentaciones\build\img\yt\OSs0oUbmIqM.jpg">
            <a:hlinkClick r:id="rId7" tooltip="Ver en YouTube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3128" y="1554480"/>
            <a:ext cx="3291840" cy="185166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715000" y="2205990"/>
            <a:ext cx="768096" cy="54864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715000" y="2205990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4544568" y="1645920"/>
            <a:ext cx="1188720" cy="274320"/>
          </a:xfrm>
          <a:prstGeom prst="roundRect">
            <a:avLst>
              <a:gd name="adj" fmla="val 33333"/>
            </a:avLst>
          </a:prstGeom>
          <a:solidFill>
            <a:srgbClr val="F0803C"/>
          </a:solidFill>
          <a:ln w="12700">
            <a:solidFill>
              <a:srgbClr val="F0803C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544568" y="1645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900" dirty="0"/>
          </a:p>
        </p:txBody>
      </p:sp>
      <p:sp>
        <p:nvSpPr>
          <p:cNvPr id="23" name="Text 18">
            <a:hlinkClick r:id="rId8" tooltip="https://youtu.be/OSs0oUbmIqM"/>
          </p:cNvPr>
          <p:cNvSpPr txBox="1"/>
          <p:nvPr/>
        </p:nvSpPr>
        <p:spPr>
          <a:xfrm>
            <a:off x="4453128" y="349758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https://youtu.be/OSs0oUbmIq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Piusi K600 Pulser - Cleaning the Gears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4453128" y="40279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Piusi · YouTube</a:t>
            </a:r>
            <a:endParaRPr lang="en-US" sz="950" dirty="0"/>
          </a:p>
        </p:txBody>
      </p:sp>
      <p:pic>
        <p:nvPicPr>
          <p:cNvPr id="25" name="Image 3" descr="preencoded.png">
            <a:hlinkClick r:id="rId10" tooltip="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4848" y="4636008"/>
            <a:ext cx="960120" cy="9601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693408" y="56144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https://youtu.be/OSs0oUbmIqM</a:t>
            </a:r>
            <a:endParaRPr lang="en-US" sz="650" dirty="0"/>
          </a:p>
        </p:txBody>
      </p:sp>
      <p:sp>
        <p:nvSpPr>
          <p:cNvPr id="27" name="Text 21"/>
          <p:cNvSpPr txBox="1"/>
          <p:nvPr/>
        </p:nvSpPr>
        <p:spPr>
          <a:xfrm>
            <a:off x="4453128" y="4320540"/>
            <a:ext cx="219456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mirar: </a:t>
            </a:r>
            <a:pPr indent="0" marL="0">
              <a:buNone/>
            </a:pPr>
            <a:r>
              <a:rPr lang="en-US" sz="10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abre el K600 Pulser y cómo son los engranajes ovales; sirve para el mantenimiento anual y para respetar el sentido de flujo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8083296" y="1417320"/>
            <a:ext cx="3566160" cy="45262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9" name="Image 4" descr="C:\Users\EdisonZavalaOrellana\Proyectos\fuelguard\docs\presentaciones\build\img\yt\vkLoBfkcm_U.jpg">
            <a:hlinkClick r:id="rId12" tooltip="Ver en YouTube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0456" y="1554480"/>
            <a:ext cx="3291840" cy="185166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482328" y="2205990"/>
            <a:ext cx="768096" cy="54864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9482328" y="2205990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8311896" y="1645920"/>
            <a:ext cx="1188720" cy="274320"/>
          </a:xfrm>
          <a:prstGeom prst="roundRect">
            <a:avLst>
              <a:gd name="adj" fmla="val 33333"/>
            </a:avLst>
          </a:prstGeom>
          <a:solidFill>
            <a:srgbClr val="F0803C"/>
          </a:solidFill>
          <a:ln w="12700">
            <a:solidFill>
              <a:srgbClr val="F0803C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8311896" y="1645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ELECTROVÁLVULA</a:t>
            </a:r>
            <a:endParaRPr lang="en-US" sz="900" dirty="0"/>
          </a:p>
        </p:txBody>
      </p:sp>
      <p:sp>
        <p:nvSpPr>
          <p:cNvPr id="34" name="Text 27">
            <a:hlinkClick r:id="rId13" tooltip="https://youtu.be/vkLoBfkcm_U"/>
          </p:cNvPr>
          <p:cNvSpPr txBox="1"/>
          <p:nvPr/>
        </p:nvSpPr>
        <p:spPr>
          <a:xfrm>
            <a:off x="8220456" y="349758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invalidUrl="" action="" tgtFrame="" tooltip="https://youtu.be/vkLoBfkcm_U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Cómo COMPROBAR una ELECTROVÁLVULA 💧 (Paso a Paso)</a:t>
            </a:r>
            <a:endParaRPr lang="en-US" sz="1100" dirty="0"/>
          </a:p>
        </p:txBody>
      </p:sp>
      <p:sp>
        <p:nvSpPr>
          <p:cNvPr id="35" name="Text 28"/>
          <p:cNvSpPr txBox="1"/>
          <p:nvPr/>
        </p:nvSpPr>
        <p:spPr>
          <a:xfrm>
            <a:off x="8220456" y="40279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Román (Electrónica y Reparaciones) · YouTube</a:t>
            </a:r>
            <a:endParaRPr lang="en-US" sz="950" dirty="0"/>
          </a:p>
        </p:txBody>
      </p:sp>
      <p:pic>
        <p:nvPicPr>
          <p:cNvPr id="36" name="Image 5" descr="preencoded.png">
            <a:hlinkClick r:id="rId15" tooltip="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52176" y="4636008"/>
            <a:ext cx="960120" cy="96012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460736" y="56144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https://youtu.be/vkLoBfkcm_U</a:t>
            </a:r>
            <a:endParaRPr lang="en-US" sz="650" dirty="0"/>
          </a:p>
        </p:txBody>
      </p:sp>
      <p:sp>
        <p:nvSpPr>
          <p:cNvPr id="38" name="Text 30"/>
          <p:cNvSpPr txBox="1"/>
          <p:nvPr/>
        </p:nvSpPr>
        <p:spPr>
          <a:xfrm>
            <a:off x="8220456" y="4320540"/>
            <a:ext cx="219456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mirar: </a:t>
            </a:r>
            <a:pPr indent="0" marL="0">
              <a:buNone/>
            </a:pPr>
            <a:r>
              <a:rPr lang="en-US" sz="10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comprobar con multímetro y alimentación que la bobina de una electroválvula abre y cierra; hágalo antes de roscarla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B · MONTAJE MECÁNICO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de referencia · sensor de nivel y RFID en la pistola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principio de la sonda hidrostática y cómo se ve un lector RFID integrado en la pistola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66160" cy="45262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C:\Users\EdisonZavalaOrellana\Proyectos\fuelguard\docs\presentaciones\build\img\yt\oMFeT2PzwG0.jpg">
            <a:hlinkClick r:id="rId2" tooltip="Ver en YouTub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3291840" cy="18516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947672" y="2205990"/>
            <a:ext cx="768096" cy="54864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947672" y="2205990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" y="1645920"/>
            <a:ext cx="1188720" cy="274320"/>
          </a:xfrm>
          <a:prstGeom prst="roundRect">
            <a:avLst>
              <a:gd name="adj" fmla="val 33333"/>
            </a:avLst>
          </a:prstGeom>
          <a:solidFill>
            <a:srgbClr val="F0803C"/>
          </a:solidFill>
          <a:ln w="12700">
            <a:solidFill>
              <a:srgbClr val="F0803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1645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 NIVEL</a:t>
            </a:r>
            <a:endParaRPr lang="en-US" sz="900" dirty="0"/>
          </a:p>
        </p:txBody>
      </p:sp>
      <p:sp>
        <p:nvSpPr>
          <p:cNvPr id="12" name="Text 9">
            <a:hlinkClick r:id="rId3" tooltip="https://youtu.be/oMFeT2PzwG0"/>
          </p:cNvPr>
          <p:cNvSpPr txBox="1"/>
          <p:nvPr/>
        </p:nvSpPr>
        <p:spPr>
          <a:xfrm>
            <a:off x="685800" y="349758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https://youtu.be/oMFeT2PzwG0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Submersible pressure level transmitters  manual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40279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Holykell · YouTube</a:t>
            </a:r>
            <a:endParaRPr lang="en-US" sz="950" dirty="0"/>
          </a:p>
        </p:txBody>
      </p:sp>
      <p:pic>
        <p:nvPicPr>
          <p:cNvPr id="14" name="Image 1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4636008"/>
            <a:ext cx="960120" cy="9601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926080" y="56144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https://youtu.be/oMFeT2PzwG0</a:t>
            </a:r>
            <a:endParaRPr lang="en-US" sz="650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4320540"/>
            <a:ext cx="219456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mirar: </a:t>
            </a:r>
            <a:pPr indent="0" marL="0">
              <a:buNone/>
            </a:pPr>
            <a:r>
              <a:rPr lang="en-US" sz="10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instala y conecta una sonda de nivel sumergible 4–20 mA: cable ventilado, posición en el fondo y conexión al lazo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315968" y="1417320"/>
            <a:ext cx="3566160" cy="45262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C:\Users\EdisonZavalaOrellana\Proyectos\fuelguard\docs\presentaciones\build\img\yt\f8mnRFkr7Nc.jpg">
            <a:hlinkClick r:id="rId7" tooltip="Ver en YouTube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3128" y="1554480"/>
            <a:ext cx="3291840" cy="185166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715000" y="2205990"/>
            <a:ext cx="768096" cy="54864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715000" y="2205990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4544568" y="1645920"/>
            <a:ext cx="1188720" cy="274320"/>
          </a:xfrm>
          <a:prstGeom prst="roundRect">
            <a:avLst>
              <a:gd name="adj" fmla="val 33333"/>
            </a:avLst>
          </a:prstGeom>
          <a:solidFill>
            <a:srgbClr val="F0803C"/>
          </a:solidFill>
          <a:ln w="12700">
            <a:solidFill>
              <a:srgbClr val="F0803C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544568" y="1645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EN PISTOLA</a:t>
            </a:r>
            <a:endParaRPr lang="en-US" sz="900" dirty="0"/>
          </a:p>
        </p:txBody>
      </p:sp>
      <p:sp>
        <p:nvSpPr>
          <p:cNvPr id="23" name="Text 18">
            <a:hlinkClick r:id="rId8" tooltip="https://youtu.be/f8mnRFkr7Nc"/>
          </p:cNvPr>
          <p:cNvSpPr txBox="1"/>
          <p:nvPr/>
        </p:nvSpPr>
        <p:spPr>
          <a:xfrm>
            <a:off x="4453128" y="349758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https://youtu.be/f8mnRFkr7Nc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B.SMART IdentiTank by Piusi | Smart Control. Secure Dispensing. Future-Proof Fuel Management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4453128" y="40279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Piusi · YouTube</a:t>
            </a:r>
            <a:endParaRPr lang="en-US" sz="950" dirty="0"/>
          </a:p>
        </p:txBody>
      </p:sp>
      <p:pic>
        <p:nvPicPr>
          <p:cNvPr id="25" name="Image 3" descr="preencoded.png">
            <a:hlinkClick r:id="rId10" tooltip="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4848" y="4636008"/>
            <a:ext cx="960120" cy="9601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693408" y="56144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https://youtu.be/f8mnRFkr7Nc</a:t>
            </a:r>
            <a:endParaRPr lang="en-US" sz="650" dirty="0"/>
          </a:p>
        </p:txBody>
      </p:sp>
      <p:sp>
        <p:nvSpPr>
          <p:cNvPr id="27" name="Text 21"/>
          <p:cNvSpPr txBox="1"/>
          <p:nvPr/>
        </p:nvSpPr>
        <p:spPr>
          <a:xfrm>
            <a:off x="4453128" y="4320540"/>
            <a:ext cx="219456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mirar: </a:t>
            </a:r>
            <a:pPr indent="0" marL="0">
              <a:buNone/>
            </a:pPr>
            <a:r>
              <a:rPr lang="en-US" sz="10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concepto que replica FuelGuard: tag en el cuello del tanque y lector en la pistola; la válvula solo abre con tag válido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8083296" y="1417320"/>
            <a:ext cx="3566160" cy="45262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9" name="Image 4" descr="C:\Users\EdisonZavalaOrellana\Proyectos\fuelguard\docs\presentaciones\build\img\yt\N6mRTJTVEbY.jpg">
            <a:hlinkClick r:id="rId12" tooltip="Ver en YouTube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0456" y="1554480"/>
            <a:ext cx="3291840" cy="185166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482328" y="2205990"/>
            <a:ext cx="768096" cy="54864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9482328" y="2205990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8311896" y="1645920"/>
            <a:ext cx="1188720" cy="274320"/>
          </a:xfrm>
          <a:prstGeom prst="roundRect">
            <a:avLst>
              <a:gd name="adj" fmla="val 33333"/>
            </a:avLst>
          </a:prstGeom>
          <a:solidFill>
            <a:srgbClr val="F0803C"/>
          </a:solidFill>
          <a:ln w="12700">
            <a:solidFill>
              <a:srgbClr val="F0803C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8311896" y="1645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</a:t>
            </a:r>
            <a:endParaRPr lang="en-US" sz="900" dirty="0"/>
          </a:p>
        </p:txBody>
      </p:sp>
      <p:sp>
        <p:nvSpPr>
          <p:cNvPr id="34" name="Text 27">
            <a:hlinkClick r:id="rId13" tooltip="https://youtu.be/N6mRTJTVEbY"/>
          </p:cNvPr>
          <p:cNvSpPr txBox="1"/>
          <p:nvPr/>
        </p:nvSpPr>
        <p:spPr>
          <a:xfrm>
            <a:off x="8220456" y="349758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invalidUrl="" action="" tgtFrame="" tooltip="https://youtu.be/N6mRTJTVEb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B.SMART demo kit presented by PIUSI</a:t>
            </a:r>
            <a:endParaRPr lang="en-US" sz="1100" dirty="0"/>
          </a:p>
        </p:txBody>
      </p:sp>
      <p:sp>
        <p:nvSpPr>
          <p:cNvPr id="35" name="Text 28"/>
          <p:cNvSpPr txBox="1"/>
          <p:nvPr/>
        </p:nvSpPr>
        <p:spPr>
          <a:xfrm>
            <a:off x="8220456" y="40279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Piusi · YouTube</a:t>
            </a:r>
            <a:endParaRPr lang="en-US" sz="950" dirty="0"/>
          </a:p>
        </p:txBody>
      </p:sp>
      <p:pic>
        <p:nvPicPr>
          <p:cNvPr id="36" name="Image 5" descr="preencoded.png">
            <a:hlinkClick r:id="rId15" tooltip="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52176" y="4636008"/>
            <a:ext cx="960120" cy="96012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460736" y="56144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https://youtu.be/N6mRTJTVEbY</a:t>
            </a:r>
            <a:endParaRPr lang="en-US" sz="650" dirty="0"/>
          </a:p>
        </p:txBody>
      </p:sp>
      <p:sp>
        <p:nvSpPr>
          <p:cNvPr id="38" name="Text 30"/>
          <p:cNvSpPr txBox="1"/>
          <p:nvPr/>
        </p:nvSpPr>
        <p:spPr>
          <a:xfrm>
            <a:off x="8220456" y="4320540"/>
            <a:ext cx="219456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mirar: </a:t>
            </a:r>
            <a:pPr indent="0" marL="0">
              <a:buNone/>
            </a:pPr>
            <a:r>
              <a:rPr lang="en-US" sz="10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del kit con pistola y tag: distancia de lectura y cómo se comporta al retirar la pistola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F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1C5CAB">
              <a:alpha val="22000"/>
            </a:srgbClr>
          </a:solidFill>
          <a:ln w="12700">
            <a:solidFill>
              <a:srgbClr val="1C5CA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840480"/>
            <a:ext cx="3657600" cy="3657600"/>
          </a:xfrm>
          <a:prstGeom prst="ellipse">
            <a:avLst/>
          </a:prstGeom>
          <a:solidFill>
            <a:srgbClr val="F0803C">
              <a:alpha val="18000"/>
            </a:srgbClr>
          </a:solidFill>
          <a:ln w="12700">
            <a:solidFill>
              <a:srgbClr val="F080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011680"/>
            <a:ext cx="2194560" cy="2194560"/>
          </a:xfrm>
          <a:prstGeom prst="ellipse">
            <a:avLst/>
          </a:prstGeom>
          <a:solidFill>
            <a:srgbClr val="F0803C"/>
          </a:solidFill>
          <a:ln w="12700">
            <a:solidFill>
              <a:srgbClr val="F080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20116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 eléctrico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3200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del controlador, alimentación protegida, ocho cables etiquetados y antenas en el techo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42976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43708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4663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Camión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26480" y="42976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43708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4663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3 horas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778240" y="42976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15400" y="43708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4663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Electricista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C · MONTAJE ELÉCTRICO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Conexiones al controlador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 cables, todos etiquetados en ambos extremos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pic>
        <p:nvPicPr>
          <p:cNvPr id="6" name="Image 0" descr="C:\Users\EdisonZavalaOrellana\Proyectos\fuelguard\docs\presentaciones\build\img\diagrama-cable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C · MONTAJE ELÉCTRICO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Caja, alimentación y antenas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reservados para las fotos y el video del piloto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66160" cy="2560320"/>
          </a:xfrm>
          <a:prstGeom prst="roundRect">
            <a:avLst>
              <a:gd name="adj" fmla="val 4286"/>
            </a:avLst>
          </a:prstGeom>
          <a:solidFill>
            <a:srgbClr val="F8F9FB"/>
          </a:solidFill>
          <a:ln w="12700">
            <a:solidFill>
              <a:srgbClr val="8C93A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97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4 · Caja IP67 montada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0175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prensaestopas hacia abajo, lejos del escape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15968" y="1417320"/>
            <a:ext cx="3566160" cy="2560320"/>
          </a:xfrm>
          <a:prstGeom prst="roundRect">
            <a:avLst>
              <a:gd name="adj" fmla="val 4286"/>
            </a:avLst>
          </a:prstGeom>
          <a:solidFill>
            <a:srgbClr val="F8F9FB"/>
          </a:solidFill>
          <a:ln w="12700">
            <a:solidFill>
              <a:srgbClr val="8C93A0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315968" y="2148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453128" y="2697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5 · Interior cableado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453128" y="30175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placa, relé, fuente, shunt en bornera, etiquetas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83296" y="1417320"/>
            <a:ext cx="3566160" cy="2560320"/>
          </a:xfrm>
          <a:prstGeom prst="roundRect">
            <a:avLst>
              <a:gd name="adj" fmla="val 4286"/>
            </a:avLst>
          </a:prstGeom>
          <a:solidFill>
            <a:srgbClr val="F8F9FB"/>
          </a:solidFill>
          <a:ln w="12700">
            <a:solidFill>
              <a:srgbClr val="8C93A0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083296" y="2148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220456" y="2697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PROPIO 2 · Encendido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220456" y="30175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en línea y cisterna en el dashboard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5486400" cy="2103120"/>
          </a:xfrm>
          <a:prstGeom prst="roundRect">
            <a:avLst>
              <a:gd name="adj" fmla="val 6087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27939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279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27939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Alimentación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791456"/>
            <a:ext cx="508406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12/24 V del vehículo con fusible de 3 A y supresor de transitorios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Convertidor DC‑DC a 5 V; negativo común al chasis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bobina de la válvula se alimenta de 12/24 V a través del relé, con diodo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7920" y="4114800"/>
            <a:ext cx="5431536" cy="2103120"/>
          </a:xfrm>
          <a:prstGeom prst="roundRect">
            <a:avLst>
              <a:gd name="adj" fmla="val 6087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427939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4279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279392"/>
            <a:ext cx="4517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Antenas y señal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419088" y="4791456"/>
            <a:ext cx="502920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LTE y GPS en el techo de la cabina, con vista al cielo y fuera del metal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Cables de señal apantallados, malla a GND solo en la caja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M2M insertada y APN cargado en config.h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C · MONTAJE ELÉCTRICO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de referencia · cableado en el vehículo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Alimentación con fusible, paso de cables y antenas: lo mismo que se hace al instalar un GPS o un sistema de control de combustible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66160" cy="45262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C:\Users\EdisonZavalaOrellana\Proyectos\fuelguard\docs\presentaciones\build\img\yt\QuZk-UYsifQ.jpg">
            <a:hlinkClick r:id="rId2" tooltip="Ver en YouTub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3291840" cy="18516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947672" y="2205990"/>
            <a:ext cx="768096" cy="54864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947672" y="2205990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" y="1645920"/>
            <a:ext cx="1188720" cy="274320"/>
          </a:xfrm>
          <a:prstGeom prst="roundRect">
            <a:avLst>
              <a:gd name="adj" fmla="val 33333"/>
            </a:avLst>
          </a:prstGeom>
          <a:solidFill>
            <a:srgbClr val="F0803C"/>
          </a:solidFill>
          <a:ln w="12700">
            <a:solidFill>
              <a:srgbClr val="F0803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1645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CABLEADO</a:t>
            </a:r>
            <a:endParaRPr lang="en-US" sz="900" dirty="0"/>
          </a:p>
        </p:txBody>
      </p:sp>
      <p:sp>
        <p:nvSpPr>
          <p:cNvPr id="12" name="Text 9">
            <a:hlinkClick r:id="rId3" tooltip="https://youtu.be/QuZk-UYsifQ"/>
          </p:cNvPr>
          <p:cNvSpPr txBox="1"/>
          <p:nvPr/>
        </p:nvSpPr>
        <p:spPr>
          <a:xfrm>
            <a:off x="685800" y="349758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https://youtu.be/QuZk-UYsifQ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02. PIUSI B.SMART Eletrical wiring US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40279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Piusi · YouTube</a:t>
            </a:r>
            <a:endParaRPr lang="en-US" sz="950" dirty="0"/>
          </a:p>
        </p:txBody>
      </p:sp>
      <p:pic>
        <p:nvPicPr>
          <p:cNvPr id="14" name="Image 1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4636008"/>
            <a:ext cx="960120" cy="9601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926080" y="56144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https://youtu.be/QuZk-UYsifQ</a:t>
            </a:r>
            <a:endParaRPr lang="en-US" sz="650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4320540"/>
            <a:ext cx="219456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mirar: </a:t>
            </a:r>
            <a:pPr indent="0" marL="0">
              <a:buNone/>
            </a:pPr>
            <a:r>
              <a:rPr lang="en-US" sz="10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cableado eléctrico de un sistema de control de combustible Piusi: alimentación, pulsos del contador y válvula; los mismos cuatro circuitos del kit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315968" y="1417320"/>
            <a:ext cx="3566160" cy="45262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C:\Users\EdisonZavalaOrellana\Proyectos\fuelguard\docs\presentaciones\build\img\yt\V94yF1DhnUU.jpg">
            <a:hlinkClick r:id="rId7" tooltip="Ver en YouTube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3128" y="1554480"/>
            <a:ext cx="3291840" cy="185166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715000" y="2205990"/>
            <a:ext cx="768096" cy="54864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715000" y="2205990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4544568" y="1645920"/>
            <a:ext cx="1188720" cy="274320"/>
          </a:xfrm>
          <a:prstGeom prst="roundRect">
            <a:avLst>
              <a:gd name="adj" fmla="val 33333"/>
            </a:avLst>
          </a:prstGeom>
          <a:solidFill>
            <a:srgbClr val="F0803C"/>
          </a:solidFill>
          <a:ln w="12700">
            <a:solidFill>
              <a:srgbClr val="F0803C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544568" y="1645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EN VEHÍCULO</a:t>
            </a:r>
            <a:endParaRPr lang="en-US" sz="900" dirty="0"/>
          </a:p>
        </p:txBody>
      </p:sp>
      <p:sp>
        <p:nvSpPr>
          <p:cNvPr id="23" name="Text 18">
            <a:hlinkClick r:id="rId8" tooltip="https://youtu.be/V94yF1DhnUU"/>
          </p:cNvPr>
          <p:cNvSpPr txBox="1"/>
          <p:nvPr/>
        </p:nvSpPr>
        <p:spPr>
          <a:xfrm>
            <a:off x="4453128" y="349758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https://youtu.be/V94yF1DhnUU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¿Cómo instalar cualquier gps en un automovil o camioneta? GT06E Tracker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4453128" y="40279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Weby Servicios - Soluciones Tecnológicas · YouTube</a:t>
            </a:r>
            <a:endParaRPr lang="en-US" sz="950" dirty="0"/>
          </a:p>
        </p:txBody>
      </p:sp>
      <p:pic>
        <p:nvPicPr>
          <p:cNvPr id="25" name="Image 3" descr="preencoded.png">
            <a:hlinkClick r:id="rId10" tooltip="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4848" y="4636008"/>
            <a:ext cx="960120" cy="9601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693408" y="56144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https://youtu.be/V94yF1DhnUU</a:t>
            </a:r>
            <a:endParaRPr lang="en-US" sz="650" dirty="0"/>
          </a:p>
        </p:txBody>
      </p:sp>
      <p:sp>
        <p:nvSpPr>
          <p:cNvPr id="27" name="Text 21"/>
          <p:cNvSpPr txBox="1"/>
          <p:nvPr/>
        </p:nvSpPr>
        <p:spPr>
          <a:xfrm>
            <a:off x="4453128" y="4320540"/>
            <a:ext cx="219456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mirar: </a:t>
            </a:r>
            <a:pPr indent="0" marL="0">
              <a:buNone/>
            </a:pPr>
            <a:r>
              <a:rPr lang="en-US" sz="10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tomar 12/24 V del vehículo con fusible, dónde fijar la caja y cómo tender la antena de un rastreador; idéntico para el controlador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8083296" y="1417320"/>
            <a:ext cx="3566160" cy="45262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9" name="Image 4" descr="C:\Users\EdisonZavalaOrellana\Proyectos\fuelguard\docs\presentaciones\build\img\yt\qcmB7YRpoFw.jpg">
            <a:hlinkClick r:id="rId12" tooltip="Ver en YouTube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0456" y="1554480"/>
            <a:ext cx="3291840" cy="185166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482328" y="2205990"/>
            <a:ext cx="768096" cy="54864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9482328" y="2205990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8311896" y="1645920"/>
            <a:ext cx="1188720" cy="274320"/>
          </a:xfrm>
          <a:prstGeom prst="roundRect">
            <a:avLst>
              <a:gd name="adj" fmla="val 33333"/>
            </a:avLst>
          </a:prstGeom>
          <a:solidFill>
            <a:srgbClr val="F0803C"/>
          </a:solidFill>
          <a:ln w="12700">
            <a:solidFill>
              <a:srgbClr val="F0803C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8311896" y="1645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ELECTROVÁLVULA</a:t>
            </a:r>
            <a:endParaRPr lang="en-US" sz="900" dirty="0"/>
          </a:p>
        </p:txBody>
      </p:sp>
      <p:sp>
        <p:nvSpPr>
          <p:cNvPr id="34" name="Text 27">
            <a:hlinkClick r:id="rId13" tooltip="https://youtu.be/qcmB7YRpoFw"/>
          </p:cNvPr>
          <p:cNvSpPr txBox="1"/>
          <p:nvPr/>
        </p:nvSpPr>
        <p:spPr>
          <a:xfrm>
            <a:off x="8220456" y="349758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invalidUrl="" action="" tgtFrame="" tooltip="https://youtu.be/qcmB7YRpoF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CÓMO FUNCIONA UNA ELECTROVÁLVULA O VÁLVULA DE SOLENOIDE #Electroválvula #Cómofunciona</a:t>
            </a:r>
            <a:endParaRPr lang="en-US" sz="1100" dirty="0"/>
          </a:p>
        </p:txBody>
      </p:sp>
      <p:sp>
        <p:nvSpPr>
          <p:cNvPr id="35" name="Text 28"/>
          <p:cNvSpPr txBox="1"/>
          <p:nvPr/>
        </p:nvSpPr>
        <p:spPr>
          <a:xfrm>
            <a:off x="8220456" y="40279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Carlos Galán · YouTube</a:t>
            </a:r>
            <a:endParaRPr lang="en-US" sz="950" dirty="0"/>
          </a:p>
        </p:txBody>
      </p:sp>
      <p:pic>
        <p:nvPicPr>
          <p:cNvPr id="36" name="Image 5" descr="preencoded.png">
            <a:hlinkClick r:id="rId15" tooltip="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52176" y="4636008"/>
            <a:ext cx="960120" cy="96012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460736" y="56144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https://youtu.be/qcmB7YRpoFw</a:t>
            </a:r>
            <a:endParaRPr lang="en-US" sz="650" dirty="0"/>
          </a:p>
        </p:txBody>
      </p:sp>
      <p:sp>
        <p:nvSpPr>
          <p:cNvPr id="38" name="Text 30"/>
          <p:cNvSpPr txBox="1"/>
          <p:nvPr/>
        </p:nvSpPr>
        <p:spPr>
          <a:xfrm>
            <a:off x="8220456" y="4320540"/>
            <a:ext cx="219456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mirar: </a:t>
            </a:r>
            <a:pPr indent="0" marL="0">
              <a:buNone/>
            </a:pPr>
            <a:r>
              <a:rPr lang="en-US" sz="10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una electroválvula y por qué la bobina se conecta a través de un relé con diodo de protección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2F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1C5CAB">
              <a:alpha val="22000"/>
            </a:srgbClr>
          </a:solidFill>
          <a:ln w="12700">
            <a:solidFill>
              <a:srgbClr val="1C5CA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840480"/>
            <a:ext cx="3657600" cy="3657600"/>
          </a:xfrm>
          <a:prstGeom prst="ellipse">
            <a:avLst/>
          </a:prstGeom>
          <a:solidFill>
            <a:srgbClr val="F0803C">
              <a:alpha val="18000"/>
            </a:srgbClr>
          </a:solidFill>
          <a:ln w="12700">
            <a:solidFill>
              <a:srgbClr val="F080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011680"/>
            <a:ext cx="2194560" cy="2194560"/>
          </a:xfrm>
          <a:prstGeom prst="ellipse">
            <a:avLst/>
          </a:prstGeom>
          <a:solidFill>
            <a:srgbClr val="F0803C"/>
          </a:solidFill>
          <a:ln w="12700">
            <a:solidFill>
              <a:srgbClr val="F080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20116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en los equipos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3200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tag anti‑metal en el cuello del tanque de cada máquina, registrado en el dashboard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42976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43708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4663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Faena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26480" y="42976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43708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4663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por equipo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778240" y="42976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15400" y="43708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4663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D · TAGS EN LOS EQUIPOS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Pegar, leer y registrar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lectura del tag se hace con el mismo lector de la pistola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66160" cy="2560320"/>
          </a:xfrm>
          <a:prstGeom prst="roundRect">
            <a:avLst>
              <a:gd name="adj" fmla="val 4286"/>
            </a:avLst>
          </a:prstGeom>
          <a:solidFill>
            <a:srgbClr val="F8F9FB"/>
          </a:solidFill>
          <a:ln w="12700">
            <a:solidFill>
              <a:srgbClr val="8C93A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97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6 · Tag en el cuello del tanque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0175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apoya la boquilla al cargar</a:t>
            </a:r>
            <a:endParaRPr lang="en-US" sz="1000" dirty="0"/>
          </a:p>
        </p:txBody>
      </p:sp>
      <p:pic>
        <p:nvPicPr>
          <p:cNvPr id="10" name="Image 0" descr="C:\Users\EdisonZavalaOrellana\Proyectos\fuelguard\docs\presentaciones\build\img\dashboard-equip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5968" y="1417320"/>
            <a:ext cx="7315200" cy="45720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pic>
      <p:sp>
        <p:nvSpPr>
          <p:cNvPr id="11" name="Shape 8"/>
          <p:cNvSpPr/>
          <p:nvPr/>
        </p:nvSpPr>
        <p:spPr>
          <a:xfrm>
            <a:off x="548640" y="4114800"/>
            <a:ext cx="3566160" cy="2103120"/>
          </a:xfrm>
          <a:prstGeom prst="roundRect">
            <a:avLst>
              <a:gd name="adj" fmla="val 6087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4279392"/>
            <a:ext cx="3163824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Desengrasar y pegar el tag anti‑metal (o fijar con abrazadera). Resina si recibe golpes.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Leerlo con el lector: aparece en el monitor serie o como "tag no autorizado" en el dashboard.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Equipos → Editar → Tag RFID. Carga corta de prueba.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2F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1C5CAB">
              <a:alpha val="22000"/>
            </a:srgbClr>
          </a:solidFill>
          <a:ln w="12700">
            <a:solidFill>
              <a:srgbClr val="1C5CA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840480"/>
            <a:ext cx="3657600" cy="3657600"/>
          </a:xfrm>
          <a:prstGeom prst="ellipse">
            <a:avLst/>
          </a:prstGeom>
          <a:solidFill>
            <a:srgbClr val="F0803C">
              <a:alpha val="18000"/>
            </a:srgbClr>
          </a:solidFill>
          <a:ln w="12700">
            <a:solidFill>
              <a:srgbClr val="F080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011680"/>
            <a:ext cx="2194560" cy="2194560"/>
          </a:xfrm>
          <a:prstGeom prst="ellipse">
            <a:avLst/>
          </a:prstGeom>
          <a:solidFill>
            <a:srgbClr val="F0803C"/>
          </a:solidFill>
          <a:ln w="12700">
            <a:solidFill>
              <a:srgbClr val="F080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20116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 y prueba final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3200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minutos que definen la precisión de todo el sistema, y el primer despacho real con el chofer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42976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43708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4663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Camión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26480" y="42976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43708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4663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2 horas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778240" y="42976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15400" y="43708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4663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+ chofer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E · CALIBRACIÓN Y PRUEBA FINAL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 del caudalímetro y del sensor de nivel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recipiente patrón de 20 L y niveles conocidos del tanque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40680" cy="2743200"/>
          </a:xfrm>
          <a:prstGeom prst="roundRect">
            <a:avLst>
              <a:gd name="adj" fmla="val 4667"/>
            </a:avLst>
          </a:prstGeom>
          <a:solidFill>
            <a:srgbClr val="FFF0E6"/>
          </a:solidFill>
          <a:ln w="6350">
            <a:solidFill>
              <a:srgbClr val="FFF0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8191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81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581912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55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Caudalímetro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093976"/>
            <a:ext cx="5038344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Despachar tres veces a un recipiente patrón de 20 L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sistema promedia 19,4 L:  K nuevo = K actual × 19,4 / 20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Regrabar config.h y anotar el K‑factor en la cisterna del dashboard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error menor al 0,5 %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5431536" cy="2743200"/>
          </a:xfrm>
          <a:prstGeom prst="roundRect">
            <a:avLst>
              <a:gd name="adj" fmla="val 4667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58191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581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581912"/>
            <a:ext cx="4517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 nivel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419088" y="2093976"/>
            <a:ext cx="502920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tanque a un nivel conocido anotar los litros reportados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en dos o tres niveles y cargar los puntos en LEVEL_TABLE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Tanque cilíndrico horizontal: tabla no lineal, al menos 7 puntos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precision_nivel_pct en Parámetros a la precisión real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8F9FB"/>
          </a:solidFill>
          <a:ln w="12700">
            <a:solidFill>
              <a:srgbClr val="8C93A0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548640" y="4709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257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PROPIO 3 · Calibración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5778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recipiente patrón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15968" y="4297680"/>
            <a:ext cx="7333488" cy="1920240"/>
          </a:xfrm>
          <a:prstGeom prst="roundRect">
            <a:avLst>
              <a:gd name="adj" fmla="val 6667"/>
            </a:avLst>
          </a:prstGeom>
          <a:solidFill>
            <a:srgbClr val="E8F6EC"/>
          </a:solidFill>
          <a:ln w="6350">
            <a:solidFill>
              <a:srgbClr val="E8F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98848" y="446227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98848" y="4462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047488" y="4462272"/>
            <a:ext cx="6419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6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Geocerca, horario y precio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17136" y="4974336"/>
            <a:ext cx="693115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→ Parámetros: coordenadas del proyecto y radio (3 km por defecto), horario permitido, precio por litro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precisión del sensor bien configurada, las conciliaciones no generan falsas alarmas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E · CALIBRACIÓN Y PRUEBA FINAL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de referencia · calibración del K600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procedimiento del fabricante con recipiente patrón; en FuelGuard el ajuste se hace en el K‑factor del firmware en lugar del display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66160" cy="45262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C:\Users\EdisonZavalaOrellana\Proyectos\fuelguard\docs\presentaciones\build\img\yt\DmYBOnf2ark.jpg">
            <a:hlinkClick r:id="rId2" tooltip="Ver en YouTub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3291840" cy="18516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947672" y="2205990"/>
            <a:ext cx="768096" cy="54864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947672" y="2205990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" y="1645920"/>
            <a:ext cx="1188720" cy="274320"/>
          </a:xfrm>
          <a:prstGeom prst="roundRect">
            <a:avLst>
              <a:gd name="adj" fmla="val 33333"/>
            </a:avLst>
          </a:prstGeom>
          <a:solidFill>
            <a:srgbClr val="F0803C"/>
          </a:solidFill>
          <a:ln w="12700">
            <a:solidFill>
              <a:srgbClr val="F0803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1645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PIUSI</a:t>
            </a:r>
            <a:endParaRPr lang="en-US" sz="900" dirty="0"/>
          </a:p>
        </p:txBody>
      </p:sp>
      <p:sp>
        <p:nvSpPr>
          <p:cNvPr id="12" name="Text 9">
            <a:hlinkClick r:id="rId3" tooltip="https://youtu.be/DmYBOnf2ark"/>
          </p:cNvPr>
          <p:cNvSpPr txBox="1"/>
          <p:nvPr/>
        </p:nvSpPr>
        <p:spPr>
          <a:xfrm>
            <a:off x="685800" y="349758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https://youtu.be/DmYBOnf2ar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Piusi K600 - Calibration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40279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Piusi · YouTube</a:t>
            </a:r>
            <a:endParaRPr lang="en-US" sz="950" dirty="0"/>
          </a:p>
        </p:txBody>
      </p:sp>
      <p:pic>
        <p:nvPicPr>
          <p:cNvPr id="14" name="Image 1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4636008"/>
            <a:ext cx="960120" cy="9601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926080" y="56144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https://youtu.be/DmYBOnf2ark</a:t>
            </a:r>
            <a:endParaRPr lang="en-US" sz="650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4320540"/>
            <a:ext cx="219456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mirar: </a:t>
            </a:r>
            <a:pPr indent="0" marL="0">
              <a:buNone/>
            </a:pPr>
            <a:r>
              <a:rPr lang="en-US" sz="10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procedimiento oficial de Piusi: despacho a recipiente patrón, lectura y corrección; anote la cifra y aplique la fórmula del K‑factor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315968" y="1417320"/>
            <a:ext cx="3566160" cy="45262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C:\Users\EdisonZavalaOrellana\Proyectos\fuelguard\docs\presentaciones\build\img\yt\Ks_KHxz97NM.jpg">
            <a:hlinkClick r:id="rId7" tooltip="Ver en YouTube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3128" y="1554480"/>
            <a:ext cx="3291840" cy="185166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715000" y="2205990"/>
            <a:ext cx="768096" cy="54864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715000" y="2205990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4544568" y="1645920"/>
            <a:ext cx="1188720" cy="274320"/>
          </a:xfrm>
          <a:prstGeom prst="roundRect">
            <a:avLst>
              <a:gd name="adj" fmla="val 33333"/>
            </a:avLst>
          </a:prstGeom>
          <a:solidFill>
            <a:srgbClr val="F0803C"/>
          </a:solidFill>
          <a:ln w="12700">
            <a:solidFill>
              <a:srgbClr val="F0803C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544568" y="1645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DISTRIBUIDOR</a:t>
            </a:r>
            <a:endParaRPr lang="en-US" sz="900" dirty="0"/>
          </a:p>
        </p:txBody>
      </p:sp>
      <p:sp>
        <p:nvSpPr>
          <p:cNvPr id="23" name="Text 18">
            <a:hlinkClick r:id="rId8" tooltip="https://youtu.be/Ks_KHxz97NM"/>
          </p:cNvPr>
          <p:cNvSpPr txBox="1"/>
          <p:nvPr/>
        </p:nvSpPr>
        <p:spPr>
          <a:xfrm>
            <a:off x="4453128" y="349758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https://youtu.be/Ks_KHxz97N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Piusi K600 Fuel Flow Meter - Calibration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4453128" y="40279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Tank Services Ltd · YouTube</a:t>
            </a:r>
            <a:endParaRPr lang="en-US" sz="950" dirty="0"/>
          </a:p>
        </p:txBody>
      </p:sp>
      <p:pic>
        <p:nvPicPr>
          <p:cNvPr id="25" name="Image 3" descr="preencoded.png">
            <a:hlinkClick r:id="rId10" tooltip="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4848" y="4636008"/>
            <a:ext cx="960120" cy="9601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693408" y="56144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https://youtu.be/Ks_KHxz97NM</a:t>
            </a:r>
            <a:endParaRPr lang="en-US" sz="650" dirty="0"/>
          </a:p>
        </p:txBody>
      </p:sp>
      <p:sp>
        <p:nvSpPr>
          <p:cNvPr id="27" name="Text 21"/>
          <p:cNvSpPr txBox="1"/>
          <p:nvPr/>
        </p:nvSpPr>
        <p:spPr>
          <a:xfrm>
            <a:off x="4453128" y="4320540"/>
            <a:ext cx="219456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mirar: </a:t>
            </a:r>
            <a:pPr indent="0" marL="0">
              <a:buNone/>
            </a:pPr>
            <a:r>
              <a:rPr lang="en-US" sz="10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calibración explicada por un distribuidor, con consejos sobre caudal estable y purga de aire antes de medir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8083296" y="1417320"/>
            <a:ext cx="3566160" cy="4526280"/>
          </a:xfrm>
          <a:prstGeom prst="roundRect">
            <a:avLst>
              <a:gd name="adj" fmla="val 3590"/>
            </a:avLst>
          </a:prstGeom>
          <a:solidFill>
            <a:srgbClr val="E8F6EC"/>
          </a:solidFill>
          <a:ln w="6350">
            <a:solidFill>
              <a:srgbClr val="E8F6EC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266176" y="158191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8266176" y="1581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8814816" y="158191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6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del 0,5 %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8284464" y="2093976"/>
            <a:ext cx="316382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despachos de 20 L, no uno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Caudal normal de trabajo, sin aire en la línea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combustible que en operación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tras cualquier cambio de manguera o bomba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Anotar K‑factor y fecha en la carpeta del vehículo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E · CALIBRACIÓN Y PRUEBA FINAL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final con el chofer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despacho completo, tal como se hará cada día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pic>
        <p:nvPicPr>
          <p:cNvPr id="6" name="Image 0" descr="C:\Users\EdisonZavalaOrellana\Proyectos\fuelguard\docs\presentaciones\build\img\chofer-inic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2926080" cy="4681728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pic>
      <p:pic>
        <p:nvPicPr>
          <p:cNvPr id="7" name="Image 1" descr="C:\Users\EdisonZavalaOrellana\Proyectos\fuelguard\docs\presentaciones\build\img\chofer-ti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417320"/>
            <a:ext cx="2926080" cy="4681728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6766560" y="1417320"/>
            <a:ext cx="4846320" cy="4681728"/>
          </a:xfrm>
          <a:prstGeom prst="roundRect">
            <a:avLst>
              <a:gd name="adj" fmla="val 2734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967728" y="1581912"/>
            <a:ext cx="4462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de aceptación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967728" y="2093976"/>
            <a:ext cx="4443984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Leer tag → "autorizado" y litros subiendo en vivo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Retirar la pistola → cierre automático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Confirmar con horómetro y firma → imprimir ticket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Verificar registro y hash en el dashboard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Tag desconocido → válvula bloqueada y alerta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Sin antena LTE → despacho con lista local → reconectar → se sincroniza con su hora original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Registrar una recarga desde la tablet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suele complicarse y cómo resolverlo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291840"/>
                <a:gridCol w="46634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habitual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tag no se lee o se pierde al mover la pistola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 común sobre metal; antena mal orientada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 anti‑metal Ø 30–50 mm; antena paralela al tag a 2–3 cm; probar en mesa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válvula no abre aunque el relé cierra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Válvula servoasistida con bomba de baja presión; bobina de otra tensión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Válvula de acción directa (presión mínima 0 bar); bobina 12 o 24 V según el camión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Litros erráticos o pulsos con la bomba apagada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Ruido eléctrico del vehículo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Cable apantallado con malla a GND solo en la caja; FLOW_DEBOUNCE_US más alto; optoacoplador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 que oscila ±50 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Combustible en movimiento con el motor en marcha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Normal: el sistema tolera la precisión configurada; conciliaciones con el camión detenido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cobertura 4G en el tajo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Zona sin señal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Despacha con lista blanca local y sincroniza al recuperar señal; WiFi en el punto de recarga si nunca hay señal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dashboard no ve la cisterna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Clave de dispositivo o APN incorrectos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Revisar DEVICE_KEY y GSM_APN; el monitor serie muestra el error exacto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ACEPTACIÓN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entrega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instalación se da por aceptada cuando se cumplen los nueve puntos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4592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5880" y="14173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Cisterna en línea en el dashboard con posición GPS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4592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95160" y="14173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despachos de calibración con error menor al 0,5 %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6060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25880" y="23774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aforo cargada y nivel coherente con la varilla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237744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26060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95160" y="23774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equipos con tag registrado y leídos al menos una vez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33756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56616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25880" y="33375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con tag desconocido comprobado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333756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356616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95160" y="33375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Despacho sin señal sincronizado correctamente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52628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325880" y="42976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Chofer capacitado: despacho, firma, ticket, recarga, manual de contingencia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429768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46520" y="452628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95160" y="42976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capacitado: alertas, reportes, cierre de alertas con nota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25780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548640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325880" y="52578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de config.h, K‑factor y aforo en la carpeta del vehículo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fotográfico y en video del piloto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capturar durante la primera instalación para completar esta guía con material propio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40680" cy="4800600"/>
          </a:xfrm>
          <a:prstGeom prst="roundRect">
            <a:avLst>
              <a:gd name="adj" fmla="val 2667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8191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81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581912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(una por marco de esta guía)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093976"/>
            <a:ext cx="5038344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Corte e inserción del caudalímetro y la válvula en la línea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Sonda de nivel entrando por la boca de inspección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Antena RFID fijada en la boquilla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Caja IP67 montada en el camión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Interior de la caja cableado y etiquetado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Tag pegado en el cuello del tanque de un equipo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Extra: antenas en el techo, kit completo desembalado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5431536" cy="4800600"/>
          </a:xfrm>
          <a:prstGeom prst="roundRect">
            <a:avLst>
              <a:gd name="adj" fmla="val 2667"/>
            </a:avLst>
          </a:prstGeom>
          <a:solidFill>
            <a:srgbClr val="FFF0E6"/>
          </a:solidFill>
          <a:ln w="6350">
            <a:solidFill>
              <a:srgbClr val="FFF0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58191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581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581912"/>
            <a:ext cx="4517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55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propios (1 a 3 minutos, horizontal)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419088" y="2093976"/>
            <a:ext cx="502920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Prueba en mesa: tag, pulsador, cierre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Encendido y primera conexión al dashboard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Calibración con recipiente patrón de 20 L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Despacho completo con firma y ticket (para capacitar choferes)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Bloqueo con tag desconocido (para mostrar al cliente)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Subirlos a un canal de YouTube no listado y reemplazar los marcos de esta guía con sus enlaces y QR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1C5CAB">
              <a:alpha val="22000"/>
            </a:srgbClr>
          </a:solidFill>
          <a:ln w="12700">
            <a:solidFill>
              <a:srgbClr val="1C5CA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840480"/>
            <a:ext cx="3657600" cy="3657600"/>
          </a:xfrm>
          <a:prstGeom prst="ellipse">
            <a:avLst/>
          </a:prstGeom>
          <a:solidFill>
            <a:srgbClr val="F0803C">
              <a:alpha val="18000"/>
            </a:srgbClr>
          </a:solidFill>
          <a:ln w="12700">
            <a:solidFill>
              <a:srgbClr val="F080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73152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F0803C"/>
          </a:solidFill>
          <a:ln w="12700">
            <a:solidFill>
              <a:srgbClr val="F080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731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731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288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4028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¿Dudas durante la instalación?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38912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detallada: docs/INSTALACION_PASO_A_PASO.md · conexiones y calibración: firmware/README.md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60350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Edison Zavala · [correo] · [teléfono]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23760" y="1097280"/>
            <a:ext cx="4754880" cy="4663440"/>
          </a:xfrm>
          <a:prstGeom prst="roundRect">
            <a:avLst>
              <a:gd name="adj" fmla="val 3922"/>
            </a:avLst>
          </a:prstGeom>
          <a:solidFill>
            <a:srgbClr val="0E1626"/>
          </a:solidFill>
          <a:ln w="12700">
            <a:solidFill>
              <a:srgbClr val="1F2F5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12" name="Image 0" descr="C:\Users\EdisonZavalaOrellana\Proyectos\fuelguard\docs\presentaciones\build\img\diagrama-line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06640" y="1280160"/>
            <a:ext cx="4389120" cy="429768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223760" y="5852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la línea de combustible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FuelGuard · Guía de instalación</dc:title>
  <dc:subject>PptxGenJS Presentation</dc:subject>
  <dc:creator>FuelGuard</dc:creator>
  <cp:lastModifiedBy>FuelGuard</cp:lastModifiedBy>
  <cp:revision>1</cp:revision>
  <dcterms:created xsi:type="dcterms:W3CDTF">2026-09-25T16:17:43Z</dcterms:created>
  <dcterms:modified xsi:type="dcterms:W3CDTF">2026-09-25T16:17:43Z</dcterms:modified>
</cp:coreProperties>
</file>